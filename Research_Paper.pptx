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9753600" cy="7315200"/>
  <p:notesSz cx="6858000" cy="9144000"/>
  <p:embeddedFontLst>
    <p:embeddedFont>
      <p:font typeface="Times New Roman" charset="1" panose="02020603050405020304"/>
      <p:regular r:id="rId37"/>
    </p:embeddedFont>
    <p:embeddedFont>
      <p:font typeface="Times New Roman Bold" charset="1" panose="02020803070505020304"/>
      <p:regular r:id="rId38"/>
    </p:embeddedFont>
    <p:embeddedFont>
      <p:font typeface="Calibri (MS)" charset="1" panose="020F0502020204030204"/>
      <p:regular r:id="rId40"/>
    </p:embeddedFont>
    <p:embeddedFont>
      <p:font typeface="Calibri (MS) Bold" charset="1" panose="020F0702030404030204"/>
      <p:regular r:id="rId41"/>
    </p:embeddedFont>
    <p:embeddedFont>
      <p:font typeface="Canva Sans Bold" charset="1" panose="020B0803030501040103"/>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notesMasters/notesMaster1.xml" Type="http://schemas.openxmlformats.org/officeDocument/2006/relationships/notesMaster"/><Relationship Id="rId35" Target="theme/theme2.xml" Type="http://schemas.openxmlformats.org/officeDocument/2006/relationships/theme"/><Relationship Id="rId36" Target="notesSlides/notesSlide1.xml" Type="http://schemas.openxmlformats.org/officeDocument/2006/relationships/notesSlide"/><Relationship Id="rId37" Target="fonts/font37.fntdata" Type="http://schemas.openxmlformats.org/officeDocument/2006/relationships/font"/><Relationship Id="rId38" Target="fonts/font38.fntdata" Type="http://schemas.openxmlformats.org/officeDocument/2006/relationships/font"/><Relationship Id="rId39" Target="notesSlides/notesSlide2.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notesSlides/notesSlide3.xml" Type="http://schemas.openxmlformats.org/officeDocument/2006/relationships/notesSlide"/><Relationship Id="rId43" Target="notesSlides/notesSlide4.xml" Type="http://schemas.openxmlformats.org/officeDocument/2006/relationships/notesSlide"/><Relationship Id="rId44" Target="notesSlides/notesSlide5.xml" Type="http://schemas.openxmlformats.org/officeDocument/2006/relationships/notesSlide"/><Relationship Id="rId45" Target="notesSlides/notesSlide6.xml" Type="http://schemas.openxmlformats.org/officeDocument/2006/relationships/notesSlide"/><Relationship Id="rId46" Target="notesSlides/notesSlide7.xml" Type="http://schemas.openxmlformats.org/officeDocument/2006/relationships/notesSlide"/><Relationship Id="rId47" Target="notesSlides/notesSlide8.xml" Type="http://schemas.openxmlformats.org/officeDocument/2006/relationships/notesSlide"/><Relationship Id="rId48" Target="notesSlides/notesSlide9.xml" Type="http://schemas.openxmlformats.org/officeDocument/2006/relationships/notesSlide"/><Relationship Id="rId49" Target="notesSlides/notesSlide10.xml" Type="http://schemas.openxmlformats.org/officeDocument/2006/relationships/notesSlide"/><Relationship Id="rId5" Target="tableStyles.xml" Type="http://schemas.openxmlformats.org/officeDocument/2006/relationships/tableStyles"/><Relationship Id="rId50" Target="notesSlides/notesSlide11.xml" Type="http://schemas.openxmlformats.org/officeDocument/2006/relationships/notesSlide"/><Relationship Id="rId51" Target="fonts/font51.fntdata" Type="http://schemas.openxmlformats.org/officeDocument/2006/relationships/font"/><Relationship Id="rId52" Target="notesSlides/notesSlide12.xml" Type="http://schemas.openxmlformats.org/officeDocument/2006/relationships/notesSlide"/><Relationship Id="rId53" Target="notesSlides/notesSlide13.xml" Type="http://schemas.openxmlformats.org/officeDocument/2006/relationships/notesSlide"/><Relationship Id="rId54" Target="notesSlides/notesSlide14.xml" Type="http://schemas.openxmlformats.org/officeDocument/2006/relationships/notesSlide"/><Relationship Id="rId55" Target="notesSlides/notesSlide15.xml" Type="http://schemas.openxmlformats.org/officeDocument/2006/relationships/notesSlide"/><Relationship Id="rId56" Target="notesSlides/notesSlide16.xml" Type="http://schemas.openxmlformats.org/officeDocument/2006/relationships/notesSlide"/><Relationship Id="rId57" Target="notesSlides/notesSlide17.xml" Type="http://schemas.openxmlformats.org/officeDocument/2006/relationships/notesSlide"/><Relationship Id="rId58" Target="notesSlides/notesSlide18.xml" Type="http://schemas.openxmlformats.org/officeDocument/2006/relationships/notesSlide"/><Relationship Id="rId59" Target="notesSlides/notesSlide19.xml" Type="http://schemas.openxmlformats.org/officeDocument/2006/relationships/notesSlide"/><Relationship Id="rId6" Target="slides/slide1.xml" Type="http://schemas.openxmlformats.org/officeDocument/2006/relationships/slide"/><Relationship Id="rId60" Target="notesSlides/notesSlide20.xml" Type="http://schemas.openxmlformats.org/officeDocument/2006/relationships/notesSlide"/><Relationship Id="rId61" Target="notesSlides/notesSlide21.xml" Type="http://schemas.openxmlformats.org/officeDocument/2006/relationships/notesSlide"/><Relationship Id="rId62" Target="notesSlides/notesSlide22.xml" Type="http://schemas.openxmlformats.org/officeDocument/2006/relationships/notesSlide"/><Relationship Id="rId63" Target="notesSlides/notesSlide23.xml" Type="http://schemas.openxmlformats.org/officeDocument/2006/relationships/notesSlide"/><Relationship Id="rId64" Target="notesSlides/notesSlide24.xml" Type="http://schemas.openxmlformats.org/officeDocument/2006/relationships/notesSlide"/><Relationship Id="rId65" Target="notesSlides/notesSlide25.xml" Type="http://schemas.openxmlformats.org/officeDocument/2006/relationships/notesSlide"/><Relationship Id="rId66" Target="notesSlides/notesSlide26.xml" Type="http://schemas.openxmlformats.org/officeDocument/2006/relationships/notesSlide"/><Relationship Id="rId67" Target="notesSlides/notesSlide27.xml" Type="http://schemas.openxmlformats.org/officeDocument/2006/relationships/notesSlide"/><Relationship Id="rId68" Target="notesSlides/notesSlide28.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59841" y="2089573"/>
            <a:ext cx="8290560" cy="1568027"/>
            <a:chOff x="0" y="0"/>
            <a:chExt cx="11054080" cy="2090702"/>
          </a:xfrm>
        </p:grpSpPr>
        <p:sp>
          <p:nvSpPr>
            <p:cNvPr name="Freeform 3" id="3"/>
            <p:cNvSpPr/>
            <p:nvPr/>
          </p:nvSpPr>
          <p:spPr>
            <a:xfrm flipH="false" flipV="false" rot="0">
              <a:off x="0" y="0"/>
              <a:ext cx="11054080" cy="2090705"/>
            </a:xfrm>
            <a:custGeom>
              <a:avLst/>
              <a:gdLst/>
              <a:ahLst/>
              <a:cxnLst/>
              <a:rect r="r" b="b" t="t" l="l"/>
              <a:pathLst>
                <a:path h="2090705" w="11054080">
                  <a:moveTo>
                    <a:pt x="0" y="0"/>
                  </a:moveTo>
                  <a:lnTo>
                    <a:pt x="11054080" y="0"/>
                  </a:lnTo>
                  <a:lnTo>
                    <a:pt x="11054080" y="2090705"/>
                  </a:lnTo>
                  <a:lnTo>
                    <a:pt x="0" y="2090705"/>
                  </a:lnTo>
                  <a:close/>
                </a:path>
              </a:pathLst>
            </a:custGeom>
            <a:solidFill>
              <a:srgbClr val="000000">
                <a:alpha val="0"/>
              </a:srgbClr>
            </a:solidFill>
            <a:ln w="12700">
              <a:solidFill>
                <a:srgbClr val="000000"/>
              </a:solidFill>
            </a:ln>
          </p:spPr>
        </p:sp>
        <p:sp>
          <p:nvSpPr>
            <p:cNvPr name="TextBox 4" id="4"/>
            <p:cNvSpPr txBox="true"/>
            <p:nvPr/>
          </p:nvSpPr>
          <p:spPr>
            <a:xfrm>
              <a:off x="0" y="-19050"/>
              <a:ext cx="11054080" cy="2109752"/>
            </a:xfrm>
            <a:prstGeom prst="rect">
              <a:avLst/>
            </a:prstGeom>
          </p:spPr>
          <p:txBody>
            <a:bodyPr anchor="ctr" rtlCol="false" tIns="0" lIns="0" bIns="0" rIns="0"/>
            <a:lstStyle/>
            <a:p>
              <a:pPr algn="ctr">
                <a:lnSpc>
                  <a:spcPts val="4792"/>
                </a:lnSpc>
              </a:pPr>
              <a:r>
                <a:rPr lang="en-US" sz="3993">
                  <a:solidFill>
                    <a:srgbClr val="5E17EB"/>
                  </a:solidFill>
                  <a:latin typeface="Times New Roman"/>
                  <a:ea typeface="Times New Roman"/>
                  <a:cs typeface="Times New Roman"/>
                  <a:sym typeface="Times New Roman"/>
                </a:rPr>
                <a:t>Real-time Seizure Prediction Using EEG Signals</a:t>
              </a:r>
            </a:p>
          </p:txBody>
        </p:sp>
      </p:grpSp>
      <p:sp>
        <p:nvSpPr>
          <p:cNvPr name="TextBox 5" id="5"/>
          <p:cNvSpPr txBox="true"/>
          <p:nvPr/>
        </p:nvSpPr>
        <p:spPr>
          <a:xfrm rot="0">
            <a:off x="4491266" y="4287250"/>
            <a:ext cx="5262334" cy="1712907"/>
          </a:xfrm>
          <a:prstGeom prst="rect">
            <a:avLst/>
          </a:prstGeom>
        </p:spPr>
        <p:txBody>
          <a:bodyPr anchor="t" rtlCol="false" tIns="0" lIns="0" bIns="0" rIns="0">
            <a:spAutoFit/>
          </a:bodyPr>
          <a:lstStyle/>
          <a:p>
            <a:pPr algn="ctr">
              <a:lnSpc>
                <a:spcPts val="1893"/>
              </a:lnSpc>
            </a:pPr>
            <a:r>
              <a:rPr lang="en-US" sz="1972">
                <a:solidFill>
                  <a:srgbClr val="888888"/>
                </a:solidFill>
                <a:latin typeface="Times New Roman"/>
                <a:ea typeface="Times New Roman"/>
                <a:cs typeface="Times New Roman"/>
                <a:sym typeface="Times New Roman"/>
              </a:rPr>
              <a:t>Batch ID: BT26COREB006</a:t>
            </a:r>
          </a:p>
          <a:p>
            <a:pPr algn="ctr">
              <a:lnSpc>
                <a:spcPts val="1893"/>
              </a:lnSpc>
            </a:pPr>
          </a:p>
          <a:p>
            <a:pPr algn="ctr">
              <a:lnSpc>
                <a:spcPts val="1893"/>
              </a:lnSpc>
            </a:pPr>
            <a:r>
              <a:rPr lang="en-US" sz="1972">
                <a:solidFill>
                  <a:srgbClr val="888888"/>
                </a:solidFill>
                <a:latin typeface="Times New Roman"/>
                <a:ea typeface="Times New Roman"/>
                <a:cs typeface="Times New Roman"/>
                <a:sym typeface="Times New Roman"/>
              </a:rPr>
              <a:t>RA2211003030111 : Srishti Sharma</a:t>
            </a:r>
          </a:p>
          <a:p>
            <a:pPr algn="ctr">
              <a:lnSpc>
                <a:spcPts val="1893"/>
              </a:lnSpc>
            </a:pPr>
            <a:r>
              <a:rPr lang="en-US" sz="1972">
                <a:solidFill>
                  <a:srgbClr val="888888"/>
                </a:solidFill>
                <a:latin typeface="Times New Roman"/>
                <a:ea typeface="Times New Roman"/>
                <a:cs typeface="Times New Roman"/>
                <a:sym typeface="Times New Roman"/>
              </a:rPr>
              <a:t>RA2211003030125 : Mohammad Zuhaib Farooqui</a:t>
            </a:r>
          </a:p>
          <a:p>
            <a:pPr algn="ctr">
              <a:lnSpc>
                <a:spcPts val="1893"/>
              </a:lnSpc>
            </a:pPr>
            <a:r>
              <a:rPr lang="en-US" sz="1972">
                <a:solidFill>
                  <a:srgbClr val="888888"/>
                </a:solidFill>
                <a:latin typeface="Times New Roman"/>
                <a:ea typeface="Times New Roman"/>
                <a:cs typeface="Times New Roman"/>
                <a:sym typeface="Times New Roman"/>
              </a:rPr>
              <a:t>RA2211003030129 : Samyak Jain</a:t>
            </a:r>
          </a:p>
          <a:p>
            <a:pPr algn="ctr">
              <a:lnSpc>
                <a:spcPts val="1893"/>
              </a:lnSpc>
            </a:pPr>
            <a:r>
              <a:rPr lang="en-US" sz="1972">
                <a:solidFill>
                  <a:srgbClr val="888888"/>
                </a:solidFill>
                <a:latin typeface="Times New Roman"/>
                <a:ea typeface="Times New Roman"/>
                <a:cs typeface="Times New Roman"/>
                <a:sym typeface="Times New Roman"/>
              </a:rPr>
              <a:t>RA2211003030131 : Vanshika Sankholia</a:t>
            </a:r>
          </a:p>
          <a:p>
            <a:pPr algn="ctr">
              <a:lnSpc>
                <a:spcPts val="1893"/>
              </a:lnSpc>
            </a:pPr>
          </a:p>
        </p:txBody>
      </p:sp>
      <p:sp>
        <p:nvSpPr>
          <p:cNvPr name="Freeform 6" id="6"/>
          <p:cNvSpPr/>
          <p:nvPr/>
        </p:nvSpPr>
        <p:spPr>
          <a:xfrm flipH="false" flipV="false" rot="0">
            <a:off x="0" y="0"/>
            <a:ext cx="2358152" cy="805348"/>
          </a:xfrm>
          <a:custGeom>
            <a:avLst/>
            <a:gdLst/>
            <a:ahLst/>
            <a:cxnLst/>
            <a:rect r="r" b="b" t="t" l="l"/>
            <a:pathLst>
              <a:path h="805348" w="2358152">
                <a:moveTo>
                  <a:pt x="0" y="0"/>
                </a:moveTo>
                <a:lnTo>
                  <a:pt x="2358152" y="0"/>
                </a:lnTo>
                <a:lnTo>
                  <a:pt x="2358152" y="805348"/>
                </a:lnTo>
                <a:lnTo>
                  <a:pt x="0" y="805348"/>
                </a:lnTo>
                <a:lnTo>
                  <a:pt x="0" y="0"/>
                </a:lnTo>
                <a:close/>
              </a:path>
            </a:pathLst>
          </a:custGeom>
          <a:blipFill>
            <a:blip r:embed="rId3"/>
            <a:stretch>
              <a:fillRect l="0" t="0" r="-1220" b="0"/>
            </a:stretch>
          </a:blipFill>
        </p:spPr>
      </p:sp>
      <p:sp>
        <p:nvSpPr>
          <p:cNvPr name="TextBox 7" id="7"/>
          <p:cNvSpPr txBox="true"/>
          <p:nvPr/>
        </p:nvSpPr>
        <p:spPr>
          <a:xfrm rot="0">
            <a:off x="2358152" y="40615"/>
            <a:ext cx="6492250" cy="1733550"/>
          </a:xfrm>
          <a:prstGeom prst="rect">
            <a:avLst/>
          </a:prstGeom>
        </p:spPr>
        <p:txBody>
          <a:bodyPr anchor="t" rtlCol="false" tIns="0" lIns="0" bIns="0" rIns="0">
            <a:spAutoFit/>
          </a:bodyPr>
          <a:lstStyle/>
          <a:p>
            <a:pPr algn="ctr">
              <a:lnSpc>
                <a:spcPts val="2304"/>
              </a:lnSpc>
            </a:pPr>
            <a:r>
              <a:rPr lang="en-US" b="true" sz="1920">
                <a:solidFill>
                  <a:srgbClr val="000000"/>
                </a:solidFill>
                <a:latin typeface="Times New Roman Bold"/>
                <a:ea typeface="Times New Roman Bold"/>
                <a:cs typeface="Times New Roman Bold"/>
                <a:sym typeface="Times New Roman Bold"/>
              </a:rPr>
              <a:t>SRM INSTITUTE OF SCIENCE AND TECHNOLOGY </a:t>
            </a:r>
          </a:p>
          <a:p>
            <a:pPr algn="ctr">
              <a:lnSpc>
                <a:spcPts val="2304"/>
              </a:lnSpc>
            </a:pPr>
            <a:r>
              <a:rPr lang="en-US" b="true" sz="1920">
                <a:solidFill>
                  <a:srgbClr val="000000"/>
                </a:solidFill>
                <a:latin typeface="Times New Roman Bold"/>
                <a:ea typeface="Times New Roman Bold"/>
                <a:cs typeface="Times New Roman Bold"/>
                <a:sym typeface="Times New Roman Bold"/>
              </a:rPr>
              <a:t>DEPARTMENT OF COMPUTER SCIENCE AND ENGINEERING</a:t>
            </a:r>
          </a:p>
          <a:p>
            <a:pPr algn="ctr">
              <a:lnSpc>
                <a:spcPts val="2304"/>
              </a:lnSpc>
            </a:pPr>
          </a:p>
          <a:p>
            <a:pPr algn="ctr">
              <a:lnSpc>
                <a:spcPts val="2304"/>
              </a:lnSpc>
            </a:pPr>
            <a:r>
              <a:rPr lang="en-US" b="true" sz="1920">
                <a:solidFill>
                  <a:srgbClr val="000000"/>
                </a:solidFill>
                <a:latin typeface="Times New Roman Bold"/>
                <a:ea typeface="Times New Roman Bold"/>
                <a:cs typeface="Times New Roman Bold"/>
                <a:sym typeface="Times New Roman Bold"/>
              </a:rPr>
              <a:t>21CSP401L MAJOR PROJECT / 21CSP402L - MAJOR PROJECT with 21CSP403L INTERNSHIP</a:t>
            </a:r>
          </a:p>
        </p:txBody>
      </p:sp>
      <p:sp>
        <p:nvSpPr>
          <p:cNvPr name="TextBox 8" id="8"/>
          <p:cNvSpPr txBox="true"/>
          <p:nvPr/>
        </p:nvSpPr>
        <p:spPr>
          <a:xfrm rot="0">
            <a:off x="0" y="4488133"/>
            <a:ext cx="4193135" cy="1187318"/>
          </a:xfrm>
          <a:prstGeom prst="rect">
            <a:avLst/>
          </a:prstGeom>
        </p:spPr>
        <p:txBody>
          <a:bodyPr anchor="t" rtlCol="false" tIns="0" lIns="0" bIns="0" rIns="0">
            <a:spAutoFit/>
          </a:bodyPr>
          <a:lstStyle/>
          <a:p>
            <a:pPr algn="ctr">
              <a:lnSpc>
                <a:spcPts val="3215"/>
              </a:lnSpc>
            </a:pPr>
            <a:r>
              <a:rPr lang="en-US" sz="1970">
                <a:solidFill>
                  <a:srgbClr val="888888"/>
                </a:solidFill>
                <a:latin typeface="Times New Roman"/>
                <a:ea typeface="Times New Roman"/>
                <a:cs typeface="Times New Roman"/>
                <a:sym typeface="Times New Roman"/>
              </a:rPr>
              <a:t> </a:t>
            </a:r>
            <a:r>
              <a:rPr lang="en-US" sz="1970">
                <a:solidFill>
                  <a:srgbClr val="888888"/>
                </a:solidFill>
                <a:latin typeface="Times New Roman"/>
                <a:ea typeface="Times New Roman"/>
                <a:cs typeface="Times New Roman"/>
                <a:sym typeface="Times New Roman"/>
              </a:rPr>
              <a:t>Guide name: Dr. Niharika Saxena Designation: Assistant Professor</a:t>
            </a:r>
          </a:p>
          <a:p>
            <a:pPr algn="l">
              <a:lnSpc>
                <a:spcPts val="3215"/>
              </a:lnSpc>
            </a:pPr>
            <a:r>
              <a:rPr lang="en-US" sz="1970">
                <a:solidFill>
                  <a:srgbClr val="888888"/>
                </a:solidFill>
                <a:latin typeface="Times New Roman"/>
                <a:ea typeface="Times New Roman"/>
                <a:cs typeface="Times New Roman"/>
                <a:sym typeface="Times New Roman"/>
              </a:rPr>
              <a:t>       </a:t>
            </a:r>
            <a:r>
              <a:rPr lang="en-US" sz="1970">
                <a:solidFill>
                  <a:srgbClr val="888888"/>
                </a:solidFill>
                <a:latin typeface="Times New Roman"/>
                <a:ea typeface="Times New Roman"/>
                <a:cs typeface="Times New Roman"/>
                <a:sym typeface="Times New Roman"/>
              </a:rPr>
              <a:t>Department: CSE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71121" y="269502"/>
            <a:ext cx="6595024" cy="1483079"/>
            <a:chOff x="0" y="0"/>
            <a:chExt cx="8793366" cy="1977438"/>
          </a:xfrm>
        </p:grpSpPr>
        <p:sp>
          <p:nvSpPr>
            <p:cNvPr name="Freeform 3" id="3"/>
            <p:cNvSpPr/>
            <p:nvPr/>
          </p:nvSpPr>
          <p:spPr>
            <a:xfrm flipH="false" flipV="false" rot="0">
              <a:off x="0" y="0"/>
              <a:ext cx="8793366" cy="1977438"/>
            </a:xfrm>
            <a:custGeom>
              <a:avLst/>
              <a:gdLst/>
              <a:ahLst/>
              <a:cxnLst/>
              <a:rect r="r" b="b" t="t" l="l"/>
              <a:pathLst>
                <a:path h="1977438" w="8793366">
                  <a:moveTo>
                    <a:pt x="0" y="0"/>
                  </a:moveTo>
                  <a:lnTo>
                    <a:pt x="8793366" y="0"/>
                  </a:lnTo>
                  <a:lnTo>
                    <a:pt x="8793366" y="1977438"/>
                  </a:lnTo>
                  <a:lnTo>
                    <a:pt x="0" y="1977438"/>
                  </a:lnTo>
                  <a:close/>
                </a:path>
              </a:pathLst>
            </a:custGeom>
            <a:solidFill>
              <a:srgbClr val="000000">
                <a:alpha val="0"/>
              </a:srgbClr>
            </a:solidFill>
            <a:ln w="12700">
              <a:solidFill>
                <a:srgbClr val="000000"/>
              </a:solidFill>
            </a:ln>
          </p:spPr>
        </p:sp>
        <p:sp>
          <p:nvSpPr>
            <p:cNvPr name="TextBox 4" id="4"/>
            <p:cNvSpPr txBox="true"/>
            <p:nvPr/>
          </p:nvSpPr>
          <p:spPr>
            <a:xfrm>
              <a:off x="0" y="-85725"/>
              <a:ext cx="8793366" cy="2063163"/>
            </a:xfrm>
            <a:prstGeom prst="rect">
              <a:avLst/>
            </a:prstGeom>
          </p:spPr>
          <p:txBody>
            <a:bodyPr anchor="ctr" rtlCol="false" tIns="0" lIns="0" bIns="0" rIns="0"/>
            <a:lstStyle/>
            <a:p>
              <a:pPr algn="ctr">
                <a:lnSpc>
                  <a:spcPts val="5032"/>
                </a:lnSpc>
              </a:pPr>
              <a:r>
                <a:rPr lang="en-US" sz="4193">
                  <a:solidFill>
                    <a:srgbClr val="5E17EB"/>
                  </a:solidFill>
                  <a:latin typeface="Calibri (MS)"/>
                  <a:ea typeface="Calibri (MS)"/>
                  <a:cs typeface="Calibri (MS)"/>
                  <a:sym typeface="Calibri (MS)"/>
                </a:rPr>
                <a:t>Real-time Seizure Prediction Using EEG Signals</a:t>
              </a:r>
            </a:p>
          </p:txBody>
        </p:sp>
      </p:grpSp>
      <p:sp>
        <p:nvSpPr>
          <p:cNvPr name="TextBox 5" id="5"/>
          <p:cNvSpPr txBox="true"/>
          <p:nvPr/>
        </p:nvSpPr>
        <p:spPr>
          <a:xfrm rot="0">
            <a:off x="731520" y="1764030"/>
            <a:ext cx="8534400" cy="4819650"/>
          </a:xfrm>
          <a:prstGeom prst="rect">
            <a:avLst/>
          </a:prstGeom>
        </p:spPr>
        <p:txBody>
          <a:bodyPr anchor="t" rtlCol="false" tIns="0" lIns="0" bIns="0" rIns="0">
            <a:spAutoFit/>
          </a:bodyPr>
          <a:lstStyle/>
          <a:p>
            <a:pPr algn="just">
              <a:lnSpc>
                <a:spcPts val="2713"/>
              </a:lnSpc>
            </a:pPr>
            <a:r>
              <a:rPr lang="en-US" b="true" sz="2260">
                <a:solidFill>
                  <a:srgbClr val="000000"/>
                </a:solidFill>
                <a:latin typeface="Times New Roman Bold"/>
                <a:ea typeface="Times New Roman Bold"/>
                <a:cs typeface="Times New Roman Bold"/>
                <a:sym typeface="Times New Roman Bold"/>
              </a:rPr>
              <a:t>Abstract</a:t>
            </a:r>
            <a:r>
              <a:rPr lang="en-US" sz="2260">
                <a:solidFill>
                  <a:srgbClr val="000000"/>
                </a:solidFill>
                <a:latin typeface="Times New Roman"/>
                <a:ea typeface="Times New Roman"/>
                <a:cs typeface="Times New Roman"/>
                <a:sym typeface="Times New Roman"/>
              </a:rPr>
              <a:t>: Epilepsy is a neurological disorder where seizures occur suddenly and without warning, causing injuries, anxiety, and reduced independence. EEG signals capture brain activity and show pre-ictal patterns that appear before seizure onset. In this project, we propose a real-time seizure prediction system using the CHB-MIT EEG dataset. The pipeline includes signal preprocessing, sliding-window segmentation, and deep learning-based time-series classification. A hybrid CNN–LSTM model is used, where CNN extracts important EEG patterns and LSTM learns temporal changes to detect seizure risk early. Data augmentation is applied to handle imbalance between seizure and non-seizure samples. Experimental evaluation demonstrates a sensitivity of 90.03%, specificity of 99.71%, and overall accuracy of 99.12%, outperforming several conventional machine learning approaches and showing promise for real-time clinical applications.</a:t>
            </a:r>
          </a:p>
        </p:txBody>
      </p:sp>
      <p:sp>
        <p:nvSpPr>
          <p:cNvPr name="Freeform 6" id="6"/>
          <p:cNvSpPr/>
          <p:nvPr/>
        </p:nvSpPr>
        <p:spPr>
          <a:xfrm flipH="false" flipV="false" rot="0">
            <a:off x="0" y="97203"/>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7" id="7"/>
          <p:cNvGrpSpPr/>
          <p:nvPr/>
        </p:nvGrpSpPr>
        <p:grpSpPr>
          <a:xfrm rot="0">
            <a:off x="487680" y="6780105"/>
            <a:ext cx="2275837" cy="389468"/>
            <a:chOff x="0" y="0"/>
            <a:chExt cx="3034449" cy="519290"/>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3034449" cy="547865"/>
            </a:xfrm>
            <a:prstGeom prst="rect">
              <a:avLst/>
            </a:prstGeom>
          </p:spPr>
          <p:txBody>
            <a:bodyPr anchor="ctr" rtlCol="false" tIns="0" lIns="0" bIns="0" rIns="0"/>
            <a:lstStyle/>
            <a:p>
              <a:pPr algn="l">
                <a:lnSpc>
                  <a:spcPts val="1535"/>
                </a:lnSpc>
              </a:pPr>
              <a:r>
                <a:rPr lang="en-US" b="true" sz="1279">
                  <a:solidFill>
                    <a:srgbClr val="888888"/>
                  </a:solidFill>
                  <a:latin typeface="Calibri (MS) Bold"/>
                  <a:ea typeface="Calibri (MS) Bold"/>
                  <a:cs typeface="Calibri (MS) Bold"/>
                  <a:sym typeface="Calibri (MS) Bold"/>
                </a:rPr>
                <a:t>24-01-2026</a:t>
              </a:r>
            </a:p>
          </p:txBody>
        </p:sp>
      </p:grpSp>
      <p:grpSp>
        <p:nvGrpSpPr>
          <p:cNvPr name="Group 10" id="10"/>
          <p:cNvGrpSpPr/>
          <p:nvPr/>
        </p:nvGrpSpPr>
        <p:grpSpPr>
          <a:xfrm rot="0">
            <a:off x="3332483" y="6780105"/>
            <a:ext cx="3088643" cy="389468"/>
            <a:chOff x="0" y="0"/>
            <a:chExt cx="4118191" cy="519290"/>
          </a:xfrm>
        </p:grpSpPr>
        <p:sp>
          <p:nvSpPr>
            <p:cNvPr name="Freeform 11" id="11"/>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3" id="13"/>
          <p:cNvGrpSpPr/>
          <p:nvPr/>
        </p:nvGrpSpPr>
        <p:grpSpPr>
          <a:xfrm rot="0">
            <a:off x="6990083" y="6780105"/>
            <a:ext cx="2275837" cy="389468"/>
            <a:chOff x="0" y="0"/>
            <a:chExt cx="3034449" cy="519290"/>
          </a:xfrm>
        </p:grpSpPr>
        <p:sp>
          <p:nvSpPr>
            <p:cNvPr name="Freeform 14" id="14"/>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5" id="15"/>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09761" y="1288413"/>
            <a:ext cx="5201794" cy="5686425"/>
          </a:xfrm>
          <a:prstGeom prst="rect">
            <a:avLst/>
          </a:prstGeom>
        </p:spPr>
        <p:txBody>
          <a:bodyPr anchor="t" rtlCol="false" tIns="0" lIns="0" bIns="0" rIns="0">
            <a:spAutoFit/>
          </a:bodyPr>
          <a:lstStyle/>
          <a:p>
            <a:pPr algn="just">
              <a:lnSpc>
                <a:spcPts val="2675"/>
              </a:lnSpc>
            </a:pPr>
            <a:r>
              <a:rPr lang="en-US" sz="2229" b="true">
                <a:solidFill>
                  <a:srgbClr val="000000"/>
                </a:solidFill>
                <a:latin typeface="Times New Roman Bold"/>
                <a:ea typeface="Times New Roman Bold"/>
                <a:cs typeface="Times New Roman Bold"/>
                <a:sym typeface="Times New Roman Bold"/>
              </a:rPr>
              <a:t>Introduction</a:t>
            </a:r>
            <a:r>
              <a:rPr lang="en-US" sz="2229">
                <a:solidFill>
                  <a:srgbClr val="000000"/>
                </a:solidFill>
                <a:latin typeface="Times New Roman"/>
                <a:ea typeface="Times New Roman"/>
                <a:cs typeface="Times New Roman"/>
                <a:sym typeface="Times New Roman"/>
              </a:rPr>
              <a:t>:</a:t>
            </a:r>
          </a:p>
          <a:p>
            <a:pPr algn="just">
              <a:lnSpc>
                <a:spcPts val="2675"/>
              </a:lnSpc>
            </a:pPr>
          </a:p>
          <a:p>
            <a:pPr algn="just" marL="481424" indent="-240712" lvl="1">
              <a:lnSpc>
                <a:spcPts val="2675"/>
              </a:lnSpc>
              <a:buFont typeface="Arial"/>
              <a:buChar char="•"/>
            </a:pPr>
            <a:r>
              <a:rPr lang="en-US" sz="2229">
                <a:solidFill>
                  <a:srgbClr val="000000"/>
                </a:solidFill>
                <a:latin typeface="Times New Roman"/>
                <a:ea typeface="Times New Roman"/>
                <a:cs typeface="Times New Roman"/>
                <a:sym typeface="Times New Roman"/>
              </a:rPr>
              <a:t>Epilepsy is a chronic neurological disorder affecting millions of people worldwide.</a:t>
            </a:r>
          </a:p>
          <a:p>
            <a:pPr algn="just" marL="481424" indent="-240712" lvl="1">
              <a:lnSpc>
                <a:spcPts val="2675"/>
              </a:lnSpc>
              <a:buFont typeface="Arial"/>
              <a:buChar char="•"/>
            </a:pPr>
            <a:r>
              <a:rPr lang="en-US" sz="2229">
                <a:solidFill>
                  <a:srgbClr val="000000"/>
                </a:solidFill>
                <a:latin typeface="Times New Roman"/>
                <a:ea typeface="Times New Roman"/>
                <a:cs typeface="Times New Roman"/>
                <a:sym typeface="Times New Roman"/>
              </a:rPr>
              <a:t>It causes sudden and unpredictable seizures.</a:t>
            </a:r>
          </a:p>
          <a:p>
            <a:pPr algn="just" marL="481424" indent="-240712" lvl="1">
              <a:lnSpc>
                <a:spcPts val="2675"/>
              </a:lnSpc>
              <a:buFont typeface="Arial"/>
              <a:buChar char="•"/>
            </a:pPr>
            <a:r>
              <a:rPr lang="en-US" sz="2229">
                <a:solidFill>
                  <a:srgbClr val="000000"/>
                </a:solidFill>
                <a:latin typeface="Times New Roman"/>
                <a:ea typeface="Times New Roman"/>
                <a:cs typeface="Times New Roman"/>
                <a:sym typeface="Times New Roman"/>
              </a:rPr>
              <a:t>Unpredictable seizures may lead to injuries, anxiety, and reduced quality of life.</a:t>
            </a:r>
          </a:p>
          <a:p>
            <a:pPr algn="just" marL="481424" indent="-240712" lvl="1">
              <a:lnSpc>
                <a:spcPts val="2675"/>
              </a:lnSpc>
              <a:buFont typeface="Arial"/>
              <a:buChar char="•"/>
            </a:pPr>
            <a:r>
              <a:rPr lang="en-US" sz="2229">
                <a:solidFill>
                  <a:srgbClr val="000000"/>
                </a:solidFill>
                <a:latin typeface="Times New Roman"/>
                <a:ea typeface="Times New Roman"/>
                <a:cs typeface="Times New Roman"/>
                <a:sym typeface="Times New Roman"/>
              </a:rPr>
              <a:t>EEG (Electroencephalogram) is a standard method to monitor brain electrical activity.</a:t>
            </a:r>
          </a:p>
          <a:p>
            <a:pPr algn="just" marL="481424" indent="-240712" lvl="1">
              <a:lnSpc>
                <a:spcPts val="2675"/>
              </a:lnSpc>
              <a:buFont typeface="Arial"/>
              <a:buChar char="•"/>
            </a:pPr>
            <a:r>
              <a:rPr lang="en-US" sz="2229">
                <a:solidFill>
                  <a:srgbClr val="000000"/>
                </a:solidFill>
                <a:latin typeface="Times New Roman"/>
                <a:ea typeface="Times New Roman"/>
                <a:cs typeface="Times New Roman"/>
                <a:sym typeface="Times New Roman"/>
              </a:rPr>
              <a:t>EEG can capture abnormal patterns during the pre-ictal phase, which occurs before seizure onset.</a:t>
            </a:r>
          </a:p>
          <a:p>
            <a:pPr algn="just">
              <a:lnSpc>
                <a:spcPts val="2675"/>
              </a:lnSpc>
            </a:pPr>
          </a:p>
        </p:txBody>
      </p:sp>
      <p:sp>
        <p:nvSpPr>
          <p:cNvPr name="Freeform 3" id="3"/>
          <p:cNvSpPr/>
          <p:nvPr/>
        </p:nvSpPr>
        <p:spPr>
          <a:xfrm flipH="false" flipV="false" rot="0">
            <a:off x="0" y="47415"/>
            <a:ext cx="2386927" cy="805348"/>
          </a:xfrm>
          <a:custGeom>
            <a:avLst/>
            <a:gdLst/>
            <a:ahLst/>
            <a:cxnLst/>
            <a:rect r="r" b="b" t="t" l="l"/>
            <a:pathLst>
              <a:path h="805348" w="2386927">
                <a:moveTo>
                  <a:pt x="0" y="0"/>
                </a:moveTo>
                <a:lnTo>
                  <a:pt x="2386927" y="0"/>
                </a:lnTo>
                <a:lnTo>
                  <a:pt x="2386927" y="805349"/>
                </a:lnTo>
                <a:lnTo>
                  <a:pt x="0" y="805349"/>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3</a:t>
              </a:r>
            </a:p>
          </p:txBody>
        </p:sp>
      </p:grpSp>
      <p:grpSp>
        <p:nvGrpSpPr>
          <p:cNvPr name="Group 13" id="13"/>
          <p:cNvGrpSpPr/>
          <p:nvPr/>
        </p:nvGrpSpPr>
        <p:grpSpPr>
          <a:xfrm rot="0">
            <a:off x="2763517" y="269502"/>
            <a:ext cx="6595024" cy="1483079"/>
            <a:chOff x="0" y="0"/>
            <a:chExt cx="8793366" cy="1977438"/>
          </a:xfrm>
        </p:grpSpPr>
        <p:sp>
          <p:nvSpPr>
            <p:cNvPr name="Freeform 14" id="14"/>
            <p:cNvSpPr/>
            <p:nvPr/>
          </p:nvSpPr>
          <p:spPr>
            <a:xfrm flipH="false" flipV="false" rot="0">
              <a:off x="0" y="0"/>
              <a:ext cx="8793366" cy="1977438"/>
            </a:xfrm>
            <a:custGeom>
              <a:avLst/>
              <a:gdLst/>
              <a:ahLst/>
              <a:cxnLst/>
              <a:rect r="r" b="b" t="t" l="l"/>
              <a:pathLst>
                <a:path h="1977438" w="8793366">
                  <a:moveTo>
                    <a:pt x="0" y="0"/>
                  </a:moveTo>
                  <a:lnTo>
                    <a:pt x="8793366" y="0"/>
                  </a:lnTo>
                  <a:lnTo>
                    <a:pt x="8793366" y="1977438"/>
                  </a:lnTo>
                  <a:lnTo>
                    <a:pt x="0" y="1977438"/>
                  </a:lnTo>
                  <a:close/>
                </a:path>
              </a:pathLst>
            </a:custGeom>
            <a:solidFill>
              <a:srgbClr val="000000">
                <a:alpha val="0"/>
              </a:srgbClr>
            </a:solidFill>
            <a:ln w="12700">
              <a:solidFill>
                <a:srgbClr val="000000"/>
              </a:solidFill>
            </a:ln>
          </p:spPr>
        </p:sp>
        <p:sp>
          <p:nvSpPr>
            <p:cNvPr name="TextBox 15" id="15"/>
            <p:cNvSpPr txBox="true"/>
            <p:nvPr/>
          </p:nvSpPr>
          <p:spPr>
            <a:xfrm>
              <a:off x="0" y="-85725"/>
              <a:ext cx="8793366" cy="2063163"/>
            </a:xfrm>
            <a:prstGeom prst="rect">
              <a:avLst/>
            </a:prstGeom>
          </p:spPr>
          <p:txBody>
            <a:bodyPr anchor="ctr" rtlCol="false" tIns="0" lIns="0" bIns="0" rIns="0"/>
            <a:lstStyle/>
            <a:p>
              <a:pPr algn="ctr">
                <a:lnSpc>
                  <a:spcPts val="5032"/>
                </a:lnSpc>
              </a:pPr>
              <a:r>
                <a:rPr lang="en-US" sz="4193">
                  <a:solidFill>
                    <a:srgbClr val="5E17EB"/>
                  </a:solidFill>
                  <a:latin typeface="Calibri (MS)"/>
                  <a:ea typeface="Calibri (MS)"/>
                  <a:cs typeface="Calibri (MS)"/>
                  <a:sym typeface="Calibri (MS)"/>
                </a:rPr>
                <a:t>Real-time Seizure Prediction Using EEG Signals</a:t>
              </a:r>
            </a:p>
          </p:txBody>
        </p:sp>
      </p:grpSp>
      <p:sp>
        <p:nvSpPr>
          <p:cNvPr name="Freeform 16" id="16"/>
          <p:cNvSpPr/>
          <p:nvPr/>
        </p:nvSpPr>
        <p:spPr>
          <a:xfrm flipH="false" flipV="false" rot="0">
            <a:off x="5715540" y="1803174"/>
            <a:ext cx="3643001" cy="4303662"/>
          </a:xfrm>
          <a:custGeom>
            <a:avLst/>
            <a:gdLst/>
            <a:ahLst/>
            <a:cxnLst/>
            <a:rect r="r" b="b" t="t" l="l"/>
            <a:pathLst>
              <a:path h="4303662" w="3643001">
                <a:moveTo>
                  <a:pt x="0" y="0"/>
                </a:moveTo>
                <a:lnTo>
                  <a:pt x="3643001" y="0"/>
                </a:lnTo>
                <a:lnTo>
                  <a:pt x="3643001" y="4303663"/>
                </a:lnTo>
                <a:lnTo>
                  <a:pt x="0" y="4303663"/>
                </a:lnTo>
                <a:lnTo>
                  <a:pt x="0" y="0"/>
                </a:lnTo>
                <a:close/>
              </a:path>
            </a:pathLst>
          </a:custGeom>
          <a:blipFill>
            <a:blip r:embed="rId4"/>
            <a:stretch>
              <a:fillRect l="-8018" t="0" r="-8018" b="-569"/>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20499" y="1982156"/>
            <a:ext cx="9112601" cy="4210050"/>
          </a:xfrm>
          <a:prstGeom prst="rect">
            <a:avLst/>
          </a:prstGeom>
        </p:spPr>
        <p:txBody>
          <a:bodyPr anchor="t" rtlCol="false" tIns="0" lIns="0" bIns="0" rIns="0">
            <a:spAutoFit/>
          </a:bodyPr>
          <a:lstStyle/>
          <a:p>
            <a:pPr algn="just">
              <a:lnSpc>
                <a:spcPts val="3022"/>
              </a:lnSpc>
            </a:pPr>
            <a:r>
              <a:rPr lang="en-US" sz="2518" b="true">
                <a:solidFill>
                  <a:srgbClr val="000000"/>
                </a:solidFill>
                <a:latin typeface="Times New Roman Bold"/>
                <a:ea typeface="Times New Roman Bold"/>
                <a:cs typeface="Times New Roman Bold"/>
                <a:sym typeface="Times New Roman Bold"/>
              </a:rPr>
              <a:t>Problem Statement:</a:t>
            </a:r>
          </a:p>
          <a:p>
            <a:pPr algn="just">
              <a:lnSpc>
                <a:spcPts val="3022"/>
              </a:lnSpc>
            </a:pPr>
          </a:p>
          <a:p>
            <a:pPr algn="just">
              <a:lnSpc>
                <a:spcPts val="3022"/>
              </a:lnSpc>
            </a:pPr>
            <a:r>
              <a:rPr lang="en-US" sz="2518">
                <a:solidFill>
                  <a:srgbClr val="000000"/>
                </a:solidFill>
                <a:latin typeface="Times New Roman"/>
                <a:ea typeface="Times New Roman"/>
                <a:cs typeface="Times New Roman"/>
                <a:sym typeface="Times New Roman"/>
              </a:rPr>
              <a:t>To develop a high-accuracy seizure prediction system using EEG signals that can detect the transition from inter-ictal to pre-ictal state and generate an early warning before seizure onset, while minimizing the False Prediction Rate (FPR) for reliable real-time use.</a:t>
            </a:r>
          </a:p>
          <a:p>
            <a:pPr algn="just">
              <a:lnSpc>
                <a:spcPts val="3022"/>
              </a:lnSpc>
            </a:pPr>
            <a:r>
              <a:rPr lang="en-US" sz="2518">
                <a:solidFill>
                  <a:srgbClr val="000000"/>
                </a:solidFill>
                <a:latin typeface="Times New Roman"/>
                <a:ea typeface="Times New Roman"/>
                <a:cs typeface="Times New Roman"/>
                <a:sym typeface="Times New Roman"/>
              </a:rPr>
              <a:t>The system aims to support timely preventive action by patients and caregivers, improving safety and independence.</a:t>
            </a:r>
          </a:p>
          <a:p>
            <a:pPr algn="just">
              <a:lnSpc>
                <a:spcPts val="3022"/>
              </a:lnSpc>
            </a:pPr>
            <a:r>
              <a:rPr lang="en-US" sz="2518">
                <a:solidFill>
                  <a:srgbClr val="000000"/>
                </a:solidFill>
                <a:latin typeface="Times New Roman"/>
                <a:ea typeface="Times New Roman"/>
                <a:cs typeface="Times New Roman"/>
                <a:sym typeface="Times New Roman"/>
              </a:rPr>
              <a:t>The proposed approach targets clinically relevant performance by achieving high sensitivity (fewer missed seizures) and high specificity (fewer false alarms) for practical healthcare applications.</a:t>
            </a:r>
          </a:p>
        </p:txBody>
      </p:sp>
      <p:sp>
        <p:nvSpPr>
          <p:cNvPr name="Freeform 3" id="3"/>
          <p:cNvSpPr/>
          <p:nvPr/>
        </p:nvSpPr>
        <p:spPr>
          <a:xfrm flipH="false" flipV="false" rot="0">
            <a:off x="0" y="47415"/>
            <a:ext cx="2386927" cy="805348"/>
          </a:xfrm>
          <a:custGeom>
            <a:avLst/>
            <a:gdLst/>
            <a:ahLst/>
            <a:cxnLst/>
            <a:rect r="r" b="b" t="t" l="l"/>
            <a:pathLst>
              <a:path h="805348" w="2386927">
                <a:moveTo>
                  <a:pt x="0" y="0"/>
                </a:moveTo>
                <a:lnTo>
                  <a:pt x="2386927" y="0"/>
                </a:lnTo>
                <a:lnTo>
                  <a:pt x="2386927" y="805349"/>
                </a:lnTo>
                <a:lnTo>
                  <a:pt x="0" y="805349"/>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3</a:t>
              </a:r>
            </a:p>
          </p:txBody>
        </p:sp>
      </p:grpSp>
      <p:grpSp>
        <p:nvGrpSpPr>
          <p:cNvPr name="Group 13" id="13"/>
          <p:cNvGrpSpPr/>
          <p:nvPr/>
        </p:nvGrpSpPr>
        <p:grpSpPr>
          <a:xfrm rot="0">
            <a:off x="2763517" y="269502"/>
            <a:ext cx="6595024" cy="1483079"/>
            <a:chOff x="0" y="0"/>
            <a:chExt cx="8793366" cy="1977438"/>
          </a:xfrm>
        </p:grpSpPr>
        <p:sp>
          <p:nvSpPr>
            <p:cNvPr name="Freeform 14" id="14"/>
            <p:cNvSpPr/>
            <p:nvPr/>
          </p:nvSpPr>
          <p:spPr>
            <a:xfrm flipH="false" flipV="false" rot="0">
              <a:off x="0" y="0"/>
              <a:ext cx="8793366" cy="1977438"/>
            </a:xfrm>
            <a:custGeom>
              <a:avLst/>
              <a:gdLst/>
              <a:ahLst/>
              <a:cxnLst/>
              <a:rect r="r" b="b" t="t" l="l"/>
              <a:pathLst>
                <a:path h="1977438" w="8793366">
                  <a:moveTo>
                    <a:pt x="0" y="0"/>
                  </a:moveTo>
                  <a:lnTo>
                    <a:pt x="8793366" y="0"/>
                  </a:lnTo>
                  <a:lnTo>
                    <a:pt x="8793366" y="1977438"/>
                  </a:lnTo>
                  <a:lnTo>
                    <a:pt x="0" y="1977438"/>
                  </a:lnTo>
                  <a:close/>
                </a:path>
              </a:pathLst>
            </a:custGeom>
            <a:solidFill>
              <a:srgbClr val="000000">
                <a:alpha val="0"/>
              </a:srgbClr>
            </a:solidFill>
            <a:ln w="12700">
              <a:solidFill>
                <a:srgbClr val="000000"/>
              </a:solidFill>
            </a:ln>
          </p:spPr>
        </p:sp>
        <p:sp>
          <p:nvSpPr>
            <p:cNvPr name="TextBox 15" id="15"/>
            <p:cNvSpPr txBox="true"/>
            <p:nvPr/>
          </p:nvSpPr>
          <p:spPr>
            <a:xfrm>
              <a:off x="0" y="-85725"/>
              <a:ext cx="8793366" cy="2063163"/>
            </a:xfrm>
            <a:prstGeom prst="rect">
              <a:avLst/>
            </a:prstGeom>
          </p:spPr>
          <p:txBody>
            <a:bodyPr anchor="ctr" rtlCol="false" tIns="0" lIns="0" bIns="0" rIns="0"/>
            <a:lstStyle/>
            <a:p>
              <a:pPr algn="ctr">
                <a:lnSpc>
                  <a:spcPts val="5032"/>
                </a:lnSpc>
              </a:pPr>
              <a:r>
                <a:rPr lang="en-US" sz="4193">
                  <a:solidFill>
                    <a:srgbClr val="5E17EB"/>
                  </a:solidFill>
                  <a:latin typeface="Calibri (MS)"/>
                  <a:ea typeface="Calibri (MS)"/>
                  <a:cs typeface="Calibri (MS)"/>
                  <a:sym typeface="Calibri (MS)"/>
                </a:rPr>
                <a:t>Real-time Seizure Prediction Using EEG Signals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680" y="73152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a:ln w="12700">
              <a:solidFill>
                <a:srgbClr val="000000"/>
              </a:solidFill>
            </a:ln>
          </p:spPr>
        </p:sp>
        <p:sp>
          <p:nvSpPr>
            <p:cNvPr name="TextBox 4" id="4"/>
            <p:cNvSpPr txBox="true"/>
            <p:nvPr/>
          </p:nvSpPr>
          <p:spPr>
            <a:xfrm>
              <a:off x="0" y="-66675"/>
              <a:ext cx="11704320" cy="1692275"/>
            </a:xfrm>
            <a:prstGeom prst="rect">
              <a:avLst/>
            </a:prstGeom>
          </p:spPr>
          <p:txBody>
            <a:bodyPr anchor="ctr" rtlCol="false" tIns="0" lIns="0" bIns="0" rIns="0"/>
            <a:lstStyle/>
            <a:p>
              <a:pPr algn="ctr">
                <a:lnSpc>
                  <a:spcPts val="4072"/>
                </a:lnSpc>
              </a:pPr>
            </a:p>
          </p:txBody>
        </p:sp>
      </p:grpSp>
      <p:sp>
        <p:nvSpPr>
          <p:cNvPr name="TextBox 5" id="5"/>
          <p:cNvSpPr txBox="true"/>
          <p:nvPr/>
        </p:nvSpPr>
        <p:spPr>
          <a:xfrm rot="0">
            <a:off x="487680" y="1322070"/>
            <a:ext cx="5925532" cy="7229475"/>
          </a:xfrm>
          <a:prstGeom prst="rect">
            <a:avLst/>
          </a:prstGeom>
        </p:spPr>
        <p:txBody>
          <a:bodyPr anchor="t" rtlCol="false" tIns="0" lIns="0" bIns="0" rIns="0">
            <a:spAutoFit/>
          </a:bodyPr>
          <a:lstStyle/>
          <a:p>
            <a:pPr algn="just">
              <a:lnSpc>
                <a:spcPts val="3259"/>
              </a:lnSpc>
            </a:pPr>
            <a:r>
              <a:rPr lang="en-US" b="true" sz="2715">
                <a:solidFill>
                  <a:srgbClr val="5E17EB"/>
                </a:solidFill>
                <a:latin typeface="Times New Roman Bold"/>
                <a:ea typeface="Times New Roman Bold"/>
                <a:cs typeface="Times New Roman Bold"/>
                <a:sym typeface="Times New Roman Bold"/>
              </a:rPr>
              <a:t>  </a:t>
            </a:r>
          </a:p>
          <a:p>
            <a:pPr algn="just">
              <a:lnSpc>
                <a:spcPts val="2907"/>
              </a:lnSpc>
            </a:pPr>
          </a:p>
          <a:p>
            <a:pPr algn="just">
              <a:lnSpc>
                <a:spcPts val="2796"/>
              </a:lnSpc>
            </a:pPr>
            <a:r>
              <a:rPr lang="en-US" b="true" sz="2330">
                <a:solidFill>
                  <a:srgbClr val="000000"/>
                </a:solidFill>
                <a:latin typeface="Times New Roman Bold"/>
                <a:ea typeface="Times New Roman Bold"/>
                <a:cs typeface="Times New Roman Bold"/>
                <a:sym typeface="Times New Roman Bold"/>
              </a:rPr>
              <a:t>   Existing System:</a:t>
            </a:r>
          </a:p>
          <a:p>
            <a:pPr algn="just">
              <a:lnSpc>
                <a:spcPts val="2796"/>
              </a:lnSpc>
            </a:pPr>
          </a:p>
          <a:p>
            <a:pPr algn="just" marL="481575" indent="-240787" lvl="1">
              <a:lnSpc>
                <a:spcPts val="2676"/>
              </a:lnSpc>
              <a:buFont typeface="Arial"/>
              <a:buChar char="•"/>
            </a:pPr>
            <a:r>
              <a:rPr lang="en-US" sz="2230">
                <a:solidFill>
                  <a:srgbClr val="000000"/>
                </a:solidFill>
                <a:latin typeface="Times New Roman"/>
                <a:ea typeface="Times New Roman"/>
                <a:cs typeface="Times New Roman"/>
                <a:sym typeface="Times New Roman"/>
              </a:rPr>
              <a:t>Most existing systems are seizure detection devices, meaning they detect seizures after they start, not before.</a:t>
            </a:r>
          </a:p>
          <a:p>
            <a:pPr algn="just" marL="481575" indent="-240787" lvl="1">
              <a:lnSpc>
                <a:spcPts val="2676"/>
              </a:lnSpc>
              <a:buFont typeface="Arial"/>
              <a:buChar char="•"/>
            </a:pPr>
            <a:r>
              <a:rPr lang="en-US" sz="2230">
                <a:solidFill>
                  <a:srgbClr val="000000"/>
                </a:solidFill>
                <a:latin typeface="Times New Roman"/>
                <a:ea typeface="Times New Roman"/>
                <a:cs typeface="Times New Roman"/>
                <a:sym typeface="Times New Roman"/>
              </a:rPr>
              <a:t>Traditional monitoring is mainly done using hospital EEG/Video-EEG, which is accurate but not portable and needs clinical setup.</a:t>
            </a:r>
          </a:p>
          <a:p>
            <a:pPr algn="just" marL="481575" indent="-240787" lvl="1">
              <a:lnSpc>
                <a:spcPts val="2676"/>
              </a:lnSpc>
              <a:buFont typeface="Arial"/>
              <a:buChar char="•"/>
            </a:pPr>
            <a:r>
              <a:rPr lang="en-US" sz="2230">
                <a:solidFill>
                  <a:srgbClr val="000000"/>
                </a:solidFill>
                <a:latin typeface="Times New Roman"/>
                <a:ea typeface="Times New Roman"/>
                <a:cs typeface="Times New Roman"/>
                <a:sym typeface="Times New Roman"/>
              </a:rPr>
              <a:t>Example: </a:t>
            </a:r>
            <a:r>
              <a:rPr lang="en-US" b="true" sz="2230">
                <a:solidFill>
                  <a:srgbClr val="000000"/>
                </a:solidFill>
                <a:latin typeface="Times New Roman Bold"/>
                <a:ea typeface="Times New Roman Bold"/>
                <a:cs typeface="Times New Roman Bold"/>
                <a:sym typeface="Times New Roman Bold"/>
              </a:rPr>
              <a:t>Embrace Watch</a:t>
            </a:r>
          </a:p>
          <a:p>
            <a:pPr algn="just" marL="481575" indent="-240787" lvl="1">
              <a:lnSpc>
                <a:spcPts val="2676"/>
              </a:lnSpc>
              <a:buFont typeface="Arial"/>
              <a:buChar char="•"/>
            </a:pPr>
            <a:r>
              <a:rPr lang="en-US" sz="2230">
                <a:solidFill>
                  <a:srgbClr val="000000"/>
                </a:solidFill>
                <a:latin typeface="Times New Roman"/>
                <a:ea typeface="Times New Roman"/>
                <a:cs typeface="Times New Roman"/>
                <a:sym typeface="Times New Roman"/>
              </a:rPr>
              <a:t>An FDA-approved wrist device used to monitor epilepsy patients.</a:t>
            </a:r>
          </a:p>
          <a:p>
            <a:pPr algn="just" marL="481575" indent="-240787" lvl="1">
              <a:lnSpc>
                <a:spcPts val="2676"/>
              </a:lnSpc>
              <a:buFont typeface="Arial"/>
              <a:buChar char="•"/>
            </a:pPr>
            <a:r>
              <a:rPr lang="en-US" sz="2230">
                <a:solidFill>
                  <a:srgbClr val="000000"/>
                </a:solidFill>
                <a:latin typeface="Times New Roman"/>
                <a:ea typeface="Times New Roman"/>
                <a:cs typeface="Times New Roman"/>
                <a:sym typeface="Times New Roman"/>
              </a:rPr>
              <a:t>It detects seizure activity and sends alerts to caregivers through a mobile app.</a:t>
            </a:r>
          </a:p>
          <a:p>
            <a:pPr algn="just">
              <a:lnSpc>
                <a:spcPts val="2676"/>
              </a:lnSpc>
            </a:pPr>
          </a:p>
          <a:p>
            <a:pPr algn="just">
              <a:lnSpc>
                <a:spcPts val="2316"/>
              </a:lnSpc>
            </a:pPr>
          </a:p>
          <a:p>
            <a:pPr algn="just">
              <a:lnSpc>
                <a:spcPts val="2907"/>
              </a:lnSpc>
            </a:pPr>
          </a:p>
          <a:p>
            <a:pPr algn="just">
              <a:lnSpc>
                <a:spcPts val="2907"/>
              </a:lnSpc>
            </a:pPr>
            <a:r>
              <a:rPr lang="en-US" sz="2422">
                <a:solidFill>
                  <a:srgbClr val="000000"/>
                </a:solidFill>
                <a:latin typeface="Times New Roman"/>
                <a:ea typeface="Times New Roman"/>
                <a:cs typeface="Times New Roman"/>
                <a:sym typeface="Times New Roman"/>
              </a:rPr>
              <a:t>                   </a:t>
            </a:r>
          </a:p>
          <a:p>
            <a:pPr algn="just">
              <a:lnSpc>
                <a:spcPts val="2907"/>
              </a:lnSpc>
            </a:pPr>
          </a:p>
          <a:p>
            <a:pPr algn="just">
              <a:lnSpc>
                <a:spcPts val="2907"/>
              </a:lnSpc>
            </a:pPr>
          </a:p>
        </p:txBody>
      </p:sp>
      <p:sp>
        <p:nvSpPr>
          <p:cNvPr name="Freeform 6" id="6"/>
          <p:cNvSpPr/>
          <p:nvPr/>
        </p:nvSpPr>
        <p:spPr>
          <a:xfrm flipH="false" flipV="false" rot="0">
            <a:off x="120377" y="47415"/>
            <a:ext cx="2386927" cy="805348"/>
          </a:xfrm>
          <a:custGeom>
            <a:avLst/>
            <a:gdLst/>
            <a:ahLst/>
            <a:cxnLst/>
            <a:rect r="r" b="b" t="t" l="l"/>
            <a:pathLst>
              <a:path h="805348" w="2386927">
                <a:moveTo>
                  <a:pt x="0" y="0"/>
                </a:moveTo>
                <a:lnTo>
                  <a:pt x="2386927" y="0"/>
                </a:lnTo>
                <a:lnTo>
                  <a:pt x="2386927" y="805349"/>
                </a:lnTo>
                <a:lnTo>
                  <a:pt x="0" y="805349"/>
                </a:lnTo>
                <a:lnTo>
                  <a:pt x="0" y="0"/>
                </a:lnTo>
                <a:close/>
              </a:path>
            </a:pathLst>
          </a:custGeom>
          <a:blipFill>
            <a:blip r:embed="rId3"/>
            <a:stretch>
              <a:fillRect l="0" t="0" r="0" b="0"/>
            </a:stretch>
          </a:blipFill>
        </p:spPr>
      </p:sp>
      <p:grpSp>
        <p:nvGrpSpPr>
          <p:cNvPr name="Group 7" id="7"/>
          <p:cNvGrpSpPr/>
          <p:nvPr/>
        </p:nvGrpSpPr>
        <p:grpSpPr>
          <a:xfrm rot="0">
            <a:off x="487680" y="6780105"/>
            <a:ext cx="2275837" cy="389468"/>
            <a:chOff x="0" y="0"/>
            <a:chExt cx="3034449" cy="519290"/>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4</a:t>
              </a:r>
            </a:p>
          </p:txBody>
        </p:sp>
      </p:grpSp>
      <p:grpSp>
        <p:nvGrpSpPr>
          <p:cNvPr name="Group 13" id="13"/>
          <p:cNvGrpSpPr/>
          <p:nvPr/>
        </p:nvGrpSpPr>
        <p:grpSpPr>
          <a:xfrm rot="0">
            <a:off x="2763517" y="111224"/>
            <a:ext cx="6595024" cy="1483079"/>
            <a:chOff x="0" y="0"/>
            <a:chExt cx="8793366" cy="1977438"/>
          </a:xfrm>
        </p:grpSpPr>
        <p:sp>
          <p:nvSpPr>
            <p:cNvPr name="Freeform 14" id="14"/>
            <p:cNvSpPr/>
            <p:nvPr/>
          </p:nvSpPr>
          <p:spPr>
            <a:xfrm flipH="false" flipV="false" rot="0">
              <a:off x="0" y="0"/>
              <a:ext cx="8793366" cy="1977438"/>
            </a:xfrm>
            <a:custGeom>
              <a:avLst/>
              <a:gdLst/>
              <a:ahLst/>
              <a:cxnLst/>
              <a:rect r="r" b="b" t="t" l="l"/>
              <a:pathLst>
                <a:path h="1977438" w="8793366">
                  <a:moveTo>
                    <a:pt x="0" y="0"/>
                  </a:moveTo>
                  <a:lnTo>
                    <a:pt x="8793366" y="0"/>
                  </a:lnTo>
                  <a:lnTo>
                    <a:pt x="8793366" y="1977438"/>
                  </a:lnTo>
                  <a:lnTo>
                    <a:pt x="0" y="1977438"/>
                  </a:lnTo>
                  <a:close/>
                </a:path>
              </a:pathLst>
            </a:custGeom>
            <a:solidFill>
              <a:srgbClr val="000000">
                <a:alpha val="0"/>
              </a:srgbClr>
            </a:solidFill>
            <a:ln w="12700">
              <a:solidFill>
                <a:srgbClr val="000000"/>
              </a:solidFill>
            </a:ln>
          </p:spPr>
        </p:sp>
        <p:sp>
          <p:nvSpPr>
            <p:cNvPr name="TextBox 15" id="15"/>
            <p:cNvSpPr txBox="true"/>
            <p:nvPr/>
          </p:nvSpPr>
          <p:spPr>
            <a:xfrm>
              <a:off x="0" y="-85725"/>
              <a:ext cx="8793366" cy="2063163"/>
            </a:xfrm>
            <a:prstGeom prst="rect">
              <a:avLst/>
            </a:prstGeom>
          </p:spPr>
          <p:txBody>
            <a:bodyPr anchor="ctr" rtlCol="false" tIns="0" lIns="0" bIns="0" rIns="0"/>
            <a:lstStyle/>
            <a:p>
              <a:pPr algn="ctr">
                <a:lnSpc>
                  <a:spcPts val="5032"/>
                </a:lnSpc>
              </a:pPr>
              <a:r>
                <a:rPr lang="en-US" sz="4193">
                  <a:solidFill>
                    <a:srgbClr val="5E17EB"/>
                  </a:solidFill>
                  <a:latin typeface="Calibri (MS)"/>
                  <a:ea typeface="Calibri (MS)"/>
                  <a:cs typeface="Calibri (MS)"/>
                  <a:sym typeface="Calibri (MS)"/>
                </a:rPr>
                <a:t>Real-time Seizure Prediction Using EEG Signals</a:t>
              </a:r>
            </a:p>
          </p:txBody>
        </p:sp>
      </p:grpSp>
      <p:sp>
        <p:nvSpPr>
          <p:cNvPr name="Freeform 16" id="16"/>
          <p:cNvSpPr/>
          <p:nvPr/>
        </p:nvSpPr>
        <p:spPr>
          <a:xfrm flipH="false" flipV="false" rot="0">
            <a:off x="6640551" y="2180749"/>
            <a:ext cx="2381529" cy="4012910"/>
          </a:xfrm>
          <a:custGeom>
            <a:avLst/>
            <a:gdLst/>
            <a:ahLst/>
            <a:cxnLst/>
            <a:rect r="r" b="b" t="t" l="l"/>
            <a:pathLst>
              <a:path h="4012910" w="2381529">
                <a:moveTo>
                  <a:pt x="0" y="0"/>
                </a:moveTo>
                <a:lnTo>
                  <a:pt x="2381529" y="0"/>
                </a:lnTo>
                <a:lnTo>
                  <a:pt x="2381529" y="4012910"/>
                </a:lnTo>
                <a:lnTo>
                  <a:pt x="0" y="4012910"/>
                </a:lnTo>
                <a:lnTo>
                  <a:pt x="0" y="0"/>
                </a:lnTo>
                <a:close/>
              </a:path>
            </a:pathLst>
          </a:custGeom>
          <a:blipFill>
            <a:blip r:embed="rId4"/>
            <a:stretch>
              <a:fillRect l="-72591" t="0" r="-7314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123228" y="776773"/>
            <a:ext cx="5138897" cy="1466850"/>
          </a:xfrm>
          <a:prstGeom prst="rect">
            <a:avLst/>
          </a:prstGeom>
        </p:spPr>
        <p:txBody>
          <a:bodyPr anchor="t" rtlCol="false" tIns="0" lIns="0" bIns="0" rIns="0">
            <a:spAutoFit/>
          </a:bodyPr>
          <a:lstStyle/>
          <a:p>
            <a:pPr algn="ctr">
              <a:lnSpc>
                <a:spcPts val="4727"/>
              </a:lnSpc>
            </a:pPr>
            <a:r>
              <a:rPr lang="en-US" b="true" sz="3939">
                <a:solidFill>
                  <a:srgbClr val="5E17EB"/>
                </a:solidFill>
                <a:latin typeface="Times New Roman Bold"/>
                <a:ea typeface="Times New Roman Bold"/>
                <a:cs typeface="Times New Roman Bold"/>
                <a:sym typeface="Times New Roman Bold"/>
              </a:rPr>
              <a:t>Objectives</a:t>
            </a:r>
          </a:p>
          <a:p>
            <a:pPr algn="ctr">
              <a:lnSpc>
                <a:spcPts val="3342"/>
              </a:lnSpc>
            </a:pPr>
          </a:p>
          <a:p>
            <a:pPr algn="ctr">
              <a:lnSpc>
                <a:spcPts val="3342"/>
              </a:lnSpc>
            </a:pPr>
          </a:p>
        </p:txBody>
      </p:sp>
      <p:sp>
        <p:nvSpPr>
          <p:cNvPr name="Freeform 3" id="3"/>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5</a:t>
              </a:r>
            </a:p>
          </p:txBody>
        </p:sp>
      </p:grpSp>
      <p:sp>
        <p:nvSpPr>
          <p:cNvPr name="TextBox 13" id="13"/>
          <p:cNvSpPr txBox="true"/>
          <p:nvPr/>
        </p:nvSpPr>
        <p:spPr>
          <a:xfrm rot="0">
            <a:off x="487680" y="731730"/>
            <a:ext cx="8870861" cy="7229475"/>
          </a:xfrm>
          <a:prstGeom prst="rect">
            <a:avLst/>
          </a:prstGeom>
        </p:spPr>
        <p:txBody>
          <a:bodyPr anchor="t" rtlCol="false" tIns="0" lIns="0" bIns="0" rIns="0">
            <a:spAutoFit/>
          </a:bodyPr>
          <a:lstStyle/>
          <a:p>
            <a:pPr algn="just">
              <a:lnSpc>
                <a:spcPts val="3259"/>
              </a:lnSpc>
            </a:pPr>
            <a:r>
              <a:rPr lang="en-US" b="true" sz="2715">
                <a:solidFill>
                  <a:srgbClr val="5E17EB"/>
                </a:solidFill>
                <a:latin typeface="Times New Roman Bold"/>
                <a:ea typeface="Times New Roman Bold"/>
                <a:cs typeface="Times New Roman Bold"/>
                <a:sym typeface="Times New Roman Bold"/>
              </a:rPr>
              <a:t>  </a:t>
            </a:r>
          </a:p>
          <a:p>
            <a:pPr algn="just">
              <a:lnSpc>
                <a:spcPts val="2907"/>
              </a:lnSpc>
            </a:pPr>
          </a:p>
          <a:p>
            <a:pPr algn="just">
              <a:lnSpc>
                <a:spcPts val="2796"/>
              </a:lnSpc>
            </a:pPr>
            <a:r>
              <a:rPr lang="en-US" b="true" sz="2330">
                <a:solidFill>
                  <a:srgbClr val="000000"/>
                </a:solidFill>
                <a:latin typeface="Times New Roman Bold"/>
                <a:ea typeface="Times New Roman Bold"/>
                <a:cs typeface="Times New Roman Bold"/>
                <a:sym typeface="Times New Roman Bold"/>
              </a:rPr>
              <a:t>   </a:t>
            </a:r>
          </a:p>
          <a:p>
            <a:pPr algn="just" marL="567933" indent="-283966" lvl="1">
              <a:lnSpc>
                <a:spcPts val="3156"/>
              </a:lnSpc>
              <a:buFont typeface="Arial"/>
              <a:buChar char="•"/>
            </a:pPr>
            <a:r>
              <a:rPr lang="en-US" sz="2630">
                <a:solidFill>
                  <a:srgbClr val="000000"/>
                </a:solidFill>
                <a:latin typeface="Times New Roman"/>
                <a:ea typeface="Times New Roman"/>
                <a:cs typeface="Times New Roman"/>
                <a:sym typeface="Times New Roman"/>
              </a:rPr>
              <a:t>To detect the early stage before a seizure and give a warning in advance.</a:t>
            </a:r>
          </a:p>
          <a:p>
            <a:pPr algn="just">
              <a:lnSpc>
                <a:spcPts val="3156"/>
              </a:lnSpc>
            </a:pPr>
          </a:p>
          <a:p>
            <a:pPr algn="just" marL="567933" indent="-283966" lvl="1">
              <a:lnSpc>
                <a:spcPts val="3156"/>
              </a:lnSpc>
              <a:buFont typeface="Arial"/>
              <a:buChar char="•"/>
            </a:pPr>
            <a:r>
              <a:rPr lang="en-US" sz="2630">
                <a:solidFill>
                  <a:srgbClr val="000000"/>
                </a:solidFill>
                <a:latin typeface="Times New Roman"/>
                <a:ea typeface="Times New Roman"/>
                <a:cs typeface="Times New Roman"/>
                <a:sym typeface="Times New Roman"/>
              </a:rPr>
              <a:t>To use a deep learning model (CNN / LSTM) to study EEG brain signals.</a:t>
            </a:r>
          </a:p>
          <a:p>
            <a:pPr algn="just">
              <a:lnSpc>
                <a:spcPts val="3156"/>
              </a:lnSpc>
            </a:pPr>
          </a:p>
          <a:p>
            <a:pPr algn="just" marL="567933" indent="-283966" lvl="1">
              <a:lnSpc>
                <a:spcPts val="3156"/>
              </a:lnSpc>
              <a:buFont typeface="Arial"/>
              <a:buChar char="•"/>
            </a:pPr>
            <a:r>
              <a:rPr lang="en-US" sz="2630">
                <a:solidFill>
                  <a:srgbClr val="000000"/>
                </a:solidFill>
                <a:latin typeface="Times New Roman"/>
                <a:ea typeface="Times New Roman"/>
                <a:cs typeface="Times New Roman"/>
                <a:sym typeface="Times New Roman"/>
              </a:rPr>
              <a:t>To make the system</a:t>
            </a:r>
            <a:r>
              <a:rPr lang="en-US" sz="2630">
                <a:solidFill>
                  <a:srgbClr val="000000"/>
                </a:solidFill>
                <a:latin typeface="Times New Roman"/>
                <a:ea typeface="Times New Roman"/>
                <a:cs typeface="Times New Roman"/>
                <a:sym typeface="Times New Roman"/>
              </a:rPr>
              <a:t> accu</a:t>
            </a:r>
            <a:r>
              <a:rPr lang="en-US" sz="2630">
                <a:solidFill>
                  <a:srgbClr val="000000"/>
                </a:solidFill>
                <a:latin typeface="Times New Roman"/>
                <a:ea typeface="Times New Roman"/>
                <a:cs typeface="Times New Roman"/>
                <a:sym typeface="Times New Roman"/>
              </a:rPr>
              <a:t>ra</a:t>
            </a:r>
            <a:r>
              <a:rPr lang="en-US" sz="2630">
                <a:solidFill>
                  <a:srgbClr val="000000"/>
                </a:solidFill>
                <a:latin typeface="Times New Roman"/>
                <a:ea typeface="Times New Roman"/>
                <a:cs typeface="Times New Roman"/>
                <a:sym typeface="Times New Roman"/>
              </a:rPr>
              <a:t>t</a:t>
            </a:r>
            <a:r>
              <a:rPr lang="en-US" sz="2630">
                <a:solidFill>
                  <a:srgbClr val="000000"/>
                </a:solidFill>
                <a:latin typeface="Times New Roman"/>
                <a:ea typeface="Times New Roman"/>
                <a:cs typeface="Times New Roman"/>
                <a:sym typeface="Times New Roman"/>
              </a:rPr>
              <a:t>e and reduce false alarms.</a:t>
            </a:r>
          </a:p>
          <a:p>
            <a:pPr algn="just">
              <a:lnSpc>
                <a:spcPts val="3156"/>
              </a:lnSpc>
            </a:pPr>
          </a:p>
          <a:p>
            <a:pPr algn="just" marL="567933" indent="-283966" lvl="1">
              <a:lnSpc>
                <a:spcPts val="3156"/>
              </a:lnSpc>
              <a:buFont typeface="Arial"/>
              <a:buChar char="•"/>
            </a:pPr>
            <a:r>
              <a:rPr lang="en-US" sz="2630">
                <a:solidFill>
                  <a:srgbClr val="000000"/>
                </a:solidFill>
                <a:latin typeface="Times New Roman"/>
                <a:ea typeface="Times New Roman"/>
                <a:cs typeface="Times New Roman"/>
                <a:sym typeface="Times New Roman"/>
              </a:rPr>
              <a:t>To test the system using the CHB-MIT EEG dataset and check its performance.</a:t>
            </a:r>
          </a:p>
          <a:p>
            <a:pPr algn="just">
              <a:lnSpc>
                <a:spcPts val="2796"/>
              </a:lnSpc>
            </a:pPr>
          </a:p>
          <a:p>
            <a:pPr algn="just">
              <a:lnSpc>
                <a:spcPts val="2316"/>
              </a:lnSpc>
            </a:pPr>
          </a:p>
          <a:p>
            <a:pPr algn="just">
              <a:lnSpc>
                <a:spcPts val="2907"/>
              </a:lnSpc>
            </a:pPr>
          </a:p>
          <a:p>
            <a:pPr algn="just">
              <a:lnSpc>
                <a:spcPts val="2907"/>
              </a:lnSpc>
            </a:pPr>
            <a:r>
              <a:rPr lang="en-US" sz="2422">
                <a:solidFill>
                  <a:srgbClr val="000000"/>
                </a:solidFill>
                <a:latin typeface="Times New Roman"/>
                <a:ea typeface="Times New Roman"/>
                <a:cs typeface="Times New Roman"/>
                <a:sym typeface="Times New Roman"/>
              </a:rPr>
              <a:t>                   </a:t>
            </a:r>
          </a:p>
          <a:p>
            <a:pPr algn="just">
              <a:lnSpc>
                <a:spcPts val="2907"/>
              </a:lnSpc>
            </a:pPr>
          </a:p>
          <a:p>
            <a:pPr algn="just">
              <a:lnSpc>
                <a:spcPts val="2907"/>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7680" y="1249680"/>
            <a:ext cx="8595389" cy="5334000"/>
          </a:xfrm>
          <a:prstGeom prst="rect">
            <a:avLst/>
          </a:prstGeom>
        </p:spPr>
        <p:txBody>
          <a:bodyPr anchor="t" rtlCol="false" tIns="0" lIns="0" bIns="0" rIns="0">
            <a:spAutoFit/>
          </a:bodyPr>
          <a:lstStyle/>
          <a:p>
            <a:pPr algn="just">
              <a:lnSpc>
                <a:spcPts val="4935"/>
              </a:lnSpc>
            </a:pPr>
            <a:r>
              <a:rPr lang="en-US" sz="4113">
                <a:solidFill>
                  <a:srgbClr val="000000"/>
                </a:solidFill>
                <a:latin typeface="Times New Roman"/>
                <a:ea typeface="Times New Roman"/>
                <a:cs typeface="Times New Roman"/>
                <a:sym typeface="Times New Roman"/>
              </a:rPr>
              <a:t>                 </a:t>
            </a:r>
            <a:r>
              <a:rPr lang="en-US" b="true" sz="4113">
                <a:solidFill>
                  <a:srgbClr val="000000"/>
                </a:solidFill>
                <a:latin typeface="Times New Roman Bold"/>
                <a:ea typeface="Times New Roman Bold"/>
                <a:cs typeface="Times New Roman Bold"/>
                <a:sym typeface="Times New Roman Bold"/>
              </a:rPr>
              <a:t> </a:t>
            </a:r>
            <a:r>
              <a:rPr lang="en-US" b="true" sz="4113">
                <a:solidFill>
                  <a:srgbClr val="5E17EB"/>
                </a:solidFill>
                <a:latin typeface="Times New Roman Bold"/>
                <a:ea typeface="Times New Roman Bold"/>
                <a:cs typeface="Times New Roman Bold"/>
                <a:sym typeface="Times New Roman Bold"/>
              </a:rPr>
              <a:t>Proposed System</a:t>
            </a:r>
            <a:r>
              <a:rPr lang="en-US" b="true" sz="4113">
                <a:solidFill>
                  <a:srgbClr val="000000"/>
                </a:solidFill>
                <a:latin typeface="Times New Roman Bold"/>
                <a:ea typeface="Times New Roman Bold"/>
                <a:cs typeface="Times New Roman Bold"/>
                <a:sym typeface="Times New Roman Bold"/>
              </a:rPr>
              <a:t>    </a:t>
            </a:r>
            <a:r>
              <a:rPr lang="en-US" sz="4113">
                <a:solidFill>
                  <a:srgbClr val="000000"/>
                </a:solidFill>
                <a:latin typeface="Times New Roman"/>
                <a:ea typeface="Times New Roman"/>
                <a:cs typeface="Times New Roman"/>
                <a:sym typeface="Times New Roman"/>
              </a:rPr>
              <a:t>   </a:t>
            </a:r>
          </a:p>
          <a:p>
            <a:pPr algn="just">
              <a:lnSpc>
                <a:spcPts val="4095"/>
              </a:lnSpc>
            </a:pPr>
          </a:p>
          <a:p>
            <a:pPr algn="just">
              <a:lnSpc>
                <a:spcPts val="4215"/>
              </a:lnSpc>
            </a:pPr>
            <a:r>
              <a:rPr lang="en-US" sz="3513">
                <a:solidFill>
                  <a:srgbClr val="5E17EB"/>
                </a:solidFill>
                <a:latin typeface="Times New Roman"/>
                <a:ea typeface="Times New Roman"/>
                <a:cs typeface="Times New Roman"/>
                <a:sym typeface="Times New Roman"/>
              </a:rPr>
              <a:t>  </a:t>
            </a:r>
            <a:r>
              <a:rPr lang="en-US" b="true" sz="3513">
                <a:solidFill>
                  <a:srgbClr val="000000"/>
                </a:solidFill>
                <a:latin typeface="Times New Roman Bold"/>
                <a:ea typeface="Times New Roman Bold"/>
                <a:cs typeface="Times New Roman Bold"/>
                <a:sym typeface="Times New Roman Bold"/>
              </a:rPr>
              <a:t> </a:t>
            </a:r>
            <a:r>
              <a:rPr lang="en-US" b="true" sz="3513">
                <a:solidFill>
                  <a:srgbClr val="000000"/>
                </a:solidFill>
                <a:latin typeface="Times New Roman Bold"/>
                <a:ea typeface="Times New Roman Bold"/>
                <a:cs typeface="Times New Roman Bold"/>
                <a:sym typeface="Times New Roman Bold"/>
              </a:rPr>
              <a:t>Overview</a:t>
            </a:r>
          </a:p>
          <a:p>
            <a:pPr algn="just">
              <a:lnSpc>
                <a:spcPts val="4215"/>
              </a:lnSpc>
            </a:pPr>
          </a:p>
          <a:p>
            <a:pPr algn="just" marL="564223" indent="-282111" lvl="1">
              <a:lnSpc>
                <a:spcPts val="3136"/>
              </a:lnSpc>
              <a:buFont typeface="Arial"/>
              <a:buChar char="•"/>
            </a:pPr>
            <a:r>
              <a:rPr lang="en-US" sz="2613">
                <a:solidFill>
                  <a:srgbClr val="000000"/>
                </a:solidFill>
                <a:latin typeface="Times New Roman"/>
                <a:ea typeface="Times New Roman"/>
                <a:cs typeface="Times New Roman"/>
                <a:sym typeface="Times New Roman"/>
              </a:rPr>
              <a:t>A real-time system is proposed to predict epileptic seizures using EEG signals.</a:t>
            </a:r>
          </a:p>
          <a:p>
            <a:pPr algn="just" marL="564223" indent="-282111" lvl="1">
              <a:lnSpc>
                <a:spcPts val="3136"/>
              </a:lnSpc>
              <a:buFont typeface="Arial"/>
              <a:buChar char="•"/>
            </a:pPr>
            <a:r>
              <a:rPr lang="en-US" sz="2613">
                <a:solidFill>
                  <a:srgbClr val="000000"/>
                </a:solidFill>
                <a:latin typeface="Times New Roman"/>
                <a:ea typeface="Times New Roman"/>
                <a:cs typeface="Times New Roman"/>
                <a:sym typeface="Times New Roman"/>
              </a:rPr>
              <a:t>The system continuously monitors brain activity to detect abnormal patterns before seizure onset.</a:t>
            </a:r>
          </a:p>
          <a:p>
            <a:pPr algn="just">
              <a:lnSpc>
                <a:spcPts val="4095"/>
              </a:lnSpc>
            </a:pPr>
            <a:r>
              <a:rPr lang="en-US" sz="3413">
                <a:solidFill>
                  <a:srgbClr val="000000"/>
                </a:solidFill>
                <a:latin typeface="Times New Roman"/>
                <a:ea typeface="Times New Roman"/>
                <a:cs typeface="Times New Roman"/>
                <a:sym typeface="Times New Roman"/>
              </a:rPr>
              <a:t>            </a:t>
            </a:r>
          </a:p>
          <a:p>
            <a:pPr algn="just">
              <a:lnSpc>
                <a:spcPts val="4095"/>
              </a:lnSpc>
            </a:pPr>
          </a:p>
          <a:p>
            <a:pPr algn="just">
              <a:lnSpc>
                <a:spcPts val="4095"/>
              </a:lnSpc>
            </a:pPr>
          </a:p>
        </p:txBody>
      </p:sp>
      <p:sp>
        <p:nvSpPr>
          <p:cNvPr name="Freeform 3" id="3"/>
          <p:cNvSpPr/>
          <p:nvPr/>
        </p:nvSpPr>
        <p:spPr>
          <a:xfrm flipH="false" flipV="false" rot="0">
            <a:off x="0" y="47415"/>
            <a:ext cx="2386927" cy="805348"/>
          </a:xfrm>
          <a:custGeom>
            <a:avLst/>
            <a:gdLst/>
            <a:ahLst/>
            <a:cxnLst/>
            <a:rect r="r" b="b" t="t" l="l"/>
            <a:pathLst>
              <a:path h="805348" w="2386927">
                <a:moveTo>
                  <a:pt x="0" y="0"/>
                </a:moveTo>
                <a:lnTo>
                  <a:pt x="2386927" y="0"/>
                </a:lnTo>
                <a:lnTo>
                  <a:pt x="2386927" y="805349"/>
                </a:lnTo>
                <a:lnTo>
                  <a:pt x="0" y="805349"/>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6</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101" y="1724006"/>
            <a:ext cx="8595389" cy="5410200"/>
          </a:xfrm>
          <a:prstGeom prst="rect">
            <a:avLst/>
          </a:prstGeom>
        </p:spPr>
        <p:txBody>
          <a:bodyPr anchor="t" rtlCol="false" tIns="0" lIns="0" bIns="0" rIns="0">
            <a:spAutoFit/>
          </a:bodyPr>
          <a:lstStyle/>
          <a:p>
            <a:pPr algn="just">
              <a:lnSpc>
                <a:spcPts val="4935"/>
              </a:lnSpc>
            </a:pPr>
            <a:r>
              <a:rPr lang="en-US" sz="4113">
                <a:solidFill>
                  <a:srgbClr val="000000"/>
                </a:solidFill>
                <a:latin typeface="Times New Roman"/>
                <a:ea typeface="Times New Roman"/>
                <a:cs typeface="Times New Roman"/>
                <a:sym typeface="Times New Roman"/>
              </a:rPr>
              <a:t>  </a:t>
            </a:r>
            <a:r>
              <a:rPr lang="en-US" sz="4113">
                <a:solidFill>
                  <a:srgbClr val="5E17EB"/>
                </a:solidFill>
                <a:latin typeface="Times New Roman"/>
                <a:ea typeface="Times New Roman"/>
                <a:cs typeface="Times New Roman"/>
                <a:sym typeface="Times New Roman"/>
              </a:rPr>
              <a:t>               </a:t>
            </a:r>
            <a:r>
              <a:rPr lang="en-US" b="true" sz="4113">
                <a:solidFill>
                  <a:srgbClr val="5E17EB"/>
                </a:solidFill>
                <a:latin typeface="Times New Roman Bold"/>
                <a:ea typeface="Times New Roman Bold"/>
                <a:cs typeface="Times New Roman Bold"/>
                <a:sym typeface="Times New Roman Bold"/>
              </a:rPr>
              <a:t> Proposed System  </a:t>
            </a:r>
            <a:r>
              <a:rPr lang="en-US" b="true" sz="4113">
                <a:solidFill>
                  <a:srgbClr val="000000"/>
                </a:solidFill>
                <a:latin typeface="Times New Roman Bold"/>
                <a:ea typeface="Times New Roman Bold"/>
                <a:cs typeface="Times New Roman Bold"/>
                <a:sym typeface="Times New Roman Bold"/>
              </a:rPr>
              <a:t>  </a:t>
            </a:r>
            <a:r>
              <a:rPr lang="en-US" sz="4113">
                <a:solidFill>
                  <a:srgbClr val="000000"/>
                </a:solidFill>
                <a:latin typeface="Times New Roman"/>
                <a:ea typeface="Times New Roman"/>
                <a:cs typeface="Times New Roman"/>
                <a:sym typeface="Times New Roman"/>
              </a:rPr>
              <a:t>   </a:t>
            </a:r>
          </a:p>
          <a:p>
            <a:pPr algn="just">
              <a:lnSpc>
                <a:spcPts val="4095"/>
              </a:lnSpc>
            </a:pPr>
          </a:p>
          <a:p>
            <a:pPr algn="just">
              <a:lnSpc>
                <a:spcPts val="4215"/>
              </a:lnSpc>
            </a:pPr>
            <a:r>
              <a:rPr lang="en-US" sz="3513">
                <a:solidFill>
                  <a:srgbClr val="5E17EB"/>
                </a:solidFill>
                <a:latin typeface="Times New Roman"/>
                <a:ea typeface="Times New Roman"/>
                <a:cs typeface="Times New Roman"/>
                <a:sym typeface="Times New Roman"/>
              </a:rPr>
              <a:t>   </a:t>
            </a:r>
            <a:r>
              <a:rPr lang="en-US" b="true" sz="3513">
                <a:solidFill>
                  <a:srgbClr val="000000"/>
                </a:solidFill>
                <a:latin typeface="Times New Roman Bold"/>
                <a:ea typeface="Times New Roman Bold"/>
                <a:cs typeface="Times New Roman Bold"/>
                <a:sym typeface="Times New Roman Bold"/>
              </a:rPr>
              <a:t>Model S</a:t>
            </a:r>
            <a:r>
              <a:rPr lang="en-US" b="true" sz="3513">
                <a:solidFill>
                  <a:srgbClr val="000000"/>
                </a:solidFill>
                <a:latin typeface="Times New Roman Bold"/>
                <a:ea typeface="Times New Roman Bold"/>
                <a:cs typeface="Times New Roman Bold"/>
                <a:sym typeface="Times New Roman Bold"/>
              </a:rPr>
              <a:t>election</a:t>
            </a:r>
          </a:p>
          <a:p>
            <a:pPr algn="just">
              <a:lnSpc>
                <a:spcPts val="4215"/>
              </a:lnSpc>
            </a:pPr>
          </a:p>
          <a:p>
            <a:pPr algn="just" marL="585812" indent="-292906" lvl="1">
              <a:lnSpc>
                <a:spcPts val="3256"/>
              </a:lnSpc>
              <a:buFont typeface="Arial"/>
              <a:buChar char="•"/>
            </a:pPr>
            <a:r>
              <a:rPr lang="en-US" sz="2713">
                <a:solidFill>
                  <a:srgbClr val="1E1E1E"/>
                </a:solidFill>
                <a:latin typeface="Times New Roman"/>
                <a:ea typeface="Times New Roman"/>
                <a:cs typeface="Times New Roman"/>
                <a:sym typeface="Times New Roman"/>
              </a:rPr>
              <a:t>A hybrid CNN–LSTM deep learning model is used.</a:t>
            </a:r>
          </a:p>
          <a:p>
            <a:pPr algn="just" marL="585812" indent="-292906" lvl="1">
              <a:lnSpc>
                <a:spcPts val="3256"/>
              </a:lnSpc>
              <a:buFont typeface="Arial"/>
              <a:buChar char="•"/>
            </a:pPr>
            <a:r>
              <a:rPr lang="en-US" sz="2713">
                <a:solidFill>
                  <a:srgbClr val="1E1E1E"/>
                </a:solidFill>
                <a:latin typeface="Times New Roman"/>
                <a:ea typeface="Times New Roman"/>
                <a:cs typeface="Times New Roman"/>
                <a:sym typeface="Times New Roman"/>
              </a:rPr>
              <a:t>CNN extracts important features from EEG signals.</a:t>
            </a:r>
          </a:p>
          <a:p>
            <a:pPr algn="just" marL="585812" indent="-292906" lvl="1">
              <a:lnSpc>
                <a:spcPts val="3256"/>
              </a:lnSpc>
              <a:buFont typeface="Arial"/>
              <a:buChar char="•"/>
            </a:pPr>
            <a:r>
              <a:rPr lang="en-US" sz="2713">
                <a:solidFill>
                  <a:srgbClr val="1E1E1E"/>
                </a:solidFill>
                <a:latin typeface="Times New Roman"/>
                <a:ea typeface="Times New Roman"/>
                <a:cs typeface="Times New Roman"/>
                <a:sym typeface="Times New Roman"/>
              </a:rPr>
              <a:t>LS</a:t>
            </a:r>
            <a:r>
              <a:rPr lang="en-US" sz="2713">
                <a:solidFill>
                  <a:srgbClr val="1E1E1E"/>
                </a:solidFill>
                <a:latin typeface="Times New Roman"/>
                <a:ea typeface="Times New Roman"/>
                <a:cs typeface="Times New Roman"/>
                <a:sym typeface="Times New Roman"/>
              </a:rPr>
              <a:t>TM captures time-dependent variations in brain activity.</a:t>
            </a:r>
          </a:p>
          <a:p>
            <a:pPr algn="just">
              <a:lnSpc>
                <a:spcPts val="4095"/>
              </a:lnSpc>
            </a:pPr>
            <a:r>
              <a:rPr lang="en-US" sz="3413">
                <a:solidFill>
                  <a:srgbClr val="000000"/>
                </a:solidFill>
                <a:latin typeface="Times New Roman"/>
                <a:ea typeface="Times New Roman"/>
                <a:cs typeface="Times New Roman"/>
                <a:sym typeface="Times New Roman"/>
              </a:rPr>
              <a:t>            </a:t>
            </a:r>
          </a:p>
          <a:p>
            <a:pPr algn="just">
              <a:lnSpc>
                <a:spcPts val="4095"/>
              </a:lnSpc>
            </a:pPr>
          </a:p>
          <a:p>
            <a:pPr algn="just">
              <a:lnSpc>
                <a:spcPts val="4095"/>
              </a:lnSpc>
            </a:pPr>
          </a:p>
        </p:txBody>
      </p:sp>
      <p:sp>
        <p:nvSpPr>
          <p:cNvPr name="Freeform 3" id="3"/>
          <p:cNvSpPr/>
          <p:nvPr/>
        </p:nvSpPr>
        <p:spPr>
          <a:xfrm flipH="false" flipV="false" rot="0">
            <a:off x="0" y="47415"/>
            <a:ext cx="2386927" cy="805348"/>
          </a:xfrm>
          <a:custGeom>
            <a:avLst/>
            <a:gdLst/>
            <a:ahLst/>
            <a:cxnLst/>
            <a:rect r="r" b="b" t="t" l="l"/>
            <a:pathLst>
              <a:path h="805348" w="2386927">
                <a:moveTo>
                  <a:pt x="0" y="0"/>
                </a:moveTo>
                <a:lnTo>
                  <a:pt x="2386927" y="0"/>
                </a:lnTo>
                <a:lnTo>
                  <a:pt x="2386927" y="805349"/>
                </a:lnTo>
                <a:lnTo>
                  <a:pt x="0" y="805349"/>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6</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101" y="1724006"/>
            <a:ext cx="8595389" cy="5695950"/>
          </a:xfrm>
          <a:prstGeom prst="rect">
            <a:avLst/>
          </a:prstGeom>
        </p:spPr>
        <p:txBody>
          <a:bodyPr anchor="t" rtlCol="false" tIns="0" lIns="0" bIns="0" rIns="0">
            <a:spAutoFit/>
          </a:bodyPr>
          <a:lstStyle/>
          <a:p>
            <a:pPr algn="just">
              <a:lnSpc>
                <a:spcPts val="4935"/>
              </a:lnSpc>
            </a:pPr>
            <a:r>
              <a:rPr lang="en-US" sz="4113">
                <a:solidFill>
                  <a:srgbClr val="000000"/>
                </a:solidFill>
                <a:latin typeface="Times New Roman"/>
                <a:ea typeface="Times New Roman"/>
                <a:cs typeface="Times New Roman"/>
                <a:sym typeface="Times New Roman"/>
              </a:rPr>
              <a:t>                 </a:t>
            </a:r>
            <a:r>
              <a:rPr lang="en-US" b="true" sz="4113">
                <a:solidFill>
                  <a:srgbClr val="000000"/>
                </a:solidFill>
                <a:latin typeface="Times New Roman Bold"/>
                <a:ea typeface="Times New Roman Bold"/>
                <a:cs typeface="Times New Roman Bold"/>
                <a:sym typeface="Times New Roman Bold"/>
              </a:rPr>
              <a:t> </a:t>
            </a:r>
            <a:r>
              <a:rPr lang="en-US" b="true" sz="4113">
                <a:solidFill>
                  <a:srgbClr val="5E17EB"/>
                </a:solidFill>
                <a:latin typeface="Times New Roman Bold"/>
                <a:ea typeface="Times New Roman Bold"/>
                <a:cs typeface="Times New Roman Bold"/>
                <a:sym typeface="Times New Roman Bold"/>
              </a:rPr>
              <a:t>Proposed System </a:t>
            </a:r>
            <a:r>
              <a:rPr lang="en-US" b="true" sz="4113">
                <a:solidFill>
                  <a:srgbClr val="000000"/>
                </a:solidFill>
                <a:latin typeface="Times New Roman Bold"/>
                <a:ea typeface="Times New Roman Bold"/>
                <a:cs typeface="Times New Roman Bold"/>
                <a:sym typeface="Times New Roman Bold"/>
              </a:rPr>
              <a:t>   </a:t>
            </a:r>
            <a:r>
              <a:rPr lang="en-US" sz="4113">
                <a:solidFill>
                  <a:srgbClr val="000000"/>
                </a:solidFill>
                <a:latin typeface="Times New Roman"/>
                <a:ea typeface="Times New Roman"/>
                <a:cs typeface="Times New Roman"/>
                <a:sym typeface="Times New Roman"/>
              </a:rPr>
              <a:t>   </a:t>
            </a:r>
          </a:p>
          <a:p>
            <a:pPr algn="just">
              <a:lnSpc>
                <a:spcPts val="4095"/>
              </a:lnSpc>
            </a:pPr>
          </a:p>
          <a:p>
            <a:pPr algn="just">
              <a:lnSpc>
                <a:spcPts val="4215"/>
              </a:lnSpc>
            </a:pPr>
            <a:r>
              <a:rPr lang="en-US" sz="3513">
                <a:solidFill>
                  <a:srgbClr val="5E17EB"/>
                </a:solidFill>
                <a:latin typeface="Times New Roman"/>
                <a:ea typeface="Times New Roman"/>
                <a:cs typeface="Times New Roman"/>
                <a:sym typeface="Times New Roman"/>
              </a:rPr>
              <a:t>  </a:t>
            </a:r>
            <a:r>
              <a:rPr lang="en-US" b="true" sz="3513">
                <a:solidFill>
                  <a:srgbClr val="000000"/>
                </a:solidFill>
                <a:latin typeface="Times New Roman Bold"/>
                <a:ea typeface="Times New Roman Bold"/>
                <a:cs typeface="Times New Roman Bold"/>
                <a:sym typeface="Times New Roman Bold"/>
              </a:rPr>
              <a:t>Working M</a:t>
            </a:r>
            <a:r>
              <a:rPr lang="en-US" b="true" sz="3513">
                <a:solidFill>
                  <a:srgbClr val="000000"/>
                </a:solidFill>
                <a:latin typeface="Times New Roman Bold"/>
                <a:ea typeface="Times New Roman Bold"/>
                <a:cs typeface="Times New Roman Bold"/>
                <a:sym typeface="Times New Roman Bold"/>
              </a:rPr>
              <a:t>ethod</a:t>
            </a:r>
          </a:p>
          <a:p>
            <a:pPr algn="just">
              <a:lnSpc>
                <a:spcPts val="3256"/>
              </a:lnSpc>
            </a:pPr>
          </a:p>
          <a:p>
            <a:pPr algn="just" marL="585812" indent="-292906" lvl="1">
              <a:lnSpc>
                <a:spcPts val="3256"/>
              </a:lnSpc>
              <a:buFont typeface="Arial"/>
              <a:buChar char="•"/>
            </a:pPr>
            <a:r>
              <a:rPr lang="en-US" sz="2713">
                <a:solidFill>
                  <a:srgbClr val="1E1E1E"/>
                </a:solidFill>
                <a:latin typeface="Times New Roman"/>
                <a:ea typeface="Times New Roman"/>
                <a:cs typeface="Times New Roman"/>
                <a:sym typeface="Times New Roman"/>
              </a:rPr>
              <a:t>EEG signals are preprocessed to remove noise.</a:t>
            </a:r>
          </a:p>
          <a:p>
            <a:pPr algn="just" marL="585812" indent="-292906" lvl="1">
              <a:lnSpc>
                <a:spcPts val="3256"/>
              </a:lnSpc>
              <a:buFont typeface="Arial"/>
              <a:buChar char="•"/>
            </a:pPr>
            <a:r>
              <a:rPr lang="en-US" sz="2713">
                <a:solidFill>
                  <a:srgbClr val="1E1E1E"/>
                </a:solidFill>
                <a:latin typeface="Times New Roman"/>
                <a:ea typeface="Times New Roman"/>
                <a:cs typeface="Times New Roman"/>
                <a:sym typeface="Times New Roman"/>
              </a:rPr>
              <a:t>Data is divided into small time windows for real-time analysis.</a:t>
            </a:r>
          </a:p>
          <a:p>
            <a:pPr algn="just" marL="585812" indent="-292906" lvl="1">
              <a:lnSpc>
                <a:spcPts val="3256"/>
              </a:lnSpc>
              <a:buFont typeface="Arial"/>
              <a:buChar char="•"/>
            </a:pPr>
            <a:r>
              <a:rPr lang="en-US" sz="2713">
                <a:solidFill>
                  <a:srgbClr val="1E1E1E"/>
                </a:solidFill>
                <a:latin typeface="Times New Roman"/>
                <a:ea typeface="Times New Roman"/>
                <a:cs typeface="Times New Roman"/>
                <a:sym typeface="Times New Roman"/>
              </a:rPr>
              <a:t>The CNN–LS</a:t>
            </a:r>
            <a:r>
              <a:rPr lang="en-US" sz="2713">
                <a:solidFill>
                  <a:srgbClr val="1E1E1E"/>
                </a:solidFill>
                <a:latin typeface="Times New Roman"/>
                <a:ea typeface="Times New Roman"/>
                <a:cs typeface="Times New Roman"/>
                <a:sym typeface="Times New Roman"/>
              </a:rPr>
              <a:t>TM model classifies signals into normal or pre-seizure states.</a:t>
            </a:r>
          </a:p>
          <a:p>
            <a:pPr algn="just">
              <a:lnSpc>
                <a:spcPts val="4095"/>
              </a:lnSpc>
            </a:pPr>
            <a:r>
              <a:rPr lang="en-US" sz="3413">
                <a:solidFill>
                  <a:srgbClr val="000000"/>
                </a:solidFill>
                <a:latin typeface="Times New Roman"/>
                <a:ea typeface="Times New Roman"/>
                <a:cs typeface="Times New Roman"/>
                <a:sym typeface="Times New Roman"/>
              </a:rPr>
              <a:t>            </a:t>
            </a:r>
          </a:p>
          <a:p>
            <a:pPr algn="just">
              <a:lnSpc>
                <a:spcPts val="4095"/>
              </a:lnSpc>
            </a:pPr>
          </a:p>
          <a:p>
            <a:pPr algn="just">
              <a:lnSpc>
                <a:spcPts val="4095"/>
              </a:lnSpc>
            </a:pPr>
          </a:p>
        </p:txBody>
      </p:sp>
      <p:sp>
        <p:nvSpPr>
          <p:cNvPr name="Freeform 3" id="3"/>
          <p:cNvSpPr/>
          <p:nvPr/>
        </p:nvSpPr>
        <p:spPr>
          <a:xfrm flipH="false" flipV="false" rot="0">
            <a:off x="0" y="47415"/>
            <a:ext cx="2386927" cy="805348"/>
          </a:xfrm>
          <a:custGeom>
            <a:avLst/>
            <a:gdLst/>
            <a:ahLst/>
            <a:cxnLst/>
            <a:rect r="r" b="b" t="t" l="l"/>
            <a:pathLst>
              <a:path h="805348" w="2386927">
                <a:moveTo>
                  <a:pt x="0" y="0"/>
                </a:moveTo>
                <a:lnTo>
                  <a:pt x="2386927" y="0"/>
                </a:lnTo>
                <a:lnTo>
                  <a:pt x="2386927" y="805349"/>
                </a:lnTo>
                <a:lnTo>
                  <a:pt x="0" y="805349"/>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6</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38077" y="1848473"/>
            <a:ext cx="4297699" cy="5172075"/>
          </a:xfrm>
          <a:prstGeom prst="rect">
            <a:avLst/>
          </a:prstGeom>
        </p:spPr>
        <p:txBody>
          <a:bodyPr anchor="t" rtlCol="false" tIns="0" lIns="0" bIns="0" rIns="0">
            <a:spAutoFit/>
          </a:bodyPr>
          <a:lstStyle/>
          <a:p>
            <a:pPr algn="just">
              <a:lnSpc>
                <a:spcPts val="3704"/>
              </a:lnSpc>
            </a:pPr>
            <a:r>
              <a:rPr lang="en-US" sz="3087">
                <a:solidFill>
                  <a:srgbClr val="000000"/>
                </a:solidFill>
                <a:latin typeface="Times New Roman"/>
                <a:ea typeface="Times New Roman"/>
                <a:cs typeface="Times New Roman"/>
                <a:sym typeface="Times New Roman"/>
              </a:rPr>
              <a:t>                 </a:t>
            </a:r>
            <a:r>
              <a:rPr lang="en-US" b="true" sz="3087">
                <a:solidFill>
                  <a:srgbClr val="000000"/>
                </a:solidFill>
                <a:latin typeface="Times New Roman Bold"/>
                <a:ea typeface="Times New Roman Bold"/>
                <a:cs typeface="Times New Roman Bold"/>
                <a:sym typeface="Times New Roman Bold"/>
              </a:rPr>
              <a:t>   </a:t>
            </a:r>
            <a:r>
              <a:rPr lang="en-US" sz="3087">
                <a:solidFill>
                  <a:srgbClr val="000000"/>
                </a:solidFill>
                <a:latin typeface="Times New Roman"/>
                <a:ea typeface="Times New Roman"/>
                <a:cs typeface="Times New Roman"/>
                <a:sym typeface="Times New Roman"/>
              </a:rPr>
              <a:t>   </a:t>
            </a:r>
          </a:p>
          <a:p>
            <a:pPr algn="just">
              <a:lnSpc>
                <a:spcPts val="3196"/>
              </a:lnSpc>
            </a:pPr>
          </a:p>
          <a:p>
            <a:pPr algn="just">
              <a:lnSpc>
                <a:spcPts val="3269"/>
              </a:lnSpc>
            </a:pPr>
            <a:r>
              <a:rPr lang="en-US" sz="2724">
                <a:solidFill>
                  <a:srgbClr val="5E17EB"/>
                </a:solidFill>
                <a:latin typeface="Times New Roman"/>
                <a:ea typeface="Times New Roman"/>
                <a:cs typeface="Times New Roman"/>
                <a:sym typeface="Times New Roman"/>
              </a:rPr>
              <a:t>  </a:t>
            </a:r>
            <a:r>
              <a:rPr lang="en-US" b="true" sz="2724">
                <a:solidFill>
                  <a:srgbClr val="5E17EB"/>
                </a:solidFill>
                <a:latin typeface="Times New Roman Bold"/>
                <a:ea typeface="Times New Roman Bold"/>
                <a:cs typeface="Times New Roman Bold"/>
                <a:sym typeface="Times New Roman Bold"/>
              </a:rPr>
              <a:t>Outpu</a:t>
            </a:r>
            <a:r>
              <a:rPr lang="en-US" b="true" sz="2724">
                <a:solidFill>
                  <a:srgbClr val="5E17EB"/>
                </a:solidFill>
                <a:latin typeface="Times New Roman Bold"/>
                <a:ea typeface="Times New Roman Bold"/>
                <a:cs typeface="Times New Roman Bold"/>
                <a:sym typeface="Times New Roman Bold"/>
              </a:rPr>
              <a:t>t</a:t>
            </a:r>
          </a:p>
          <a:p>
            <a:pPr algn="just">
              <a:lnSpc>
                <a:spcPts val="2688"/>
              </a:lnSpc>
            </a:pPr>
          </a:p>
          <a:p>
            <a:pPr algn="just" marL="483751" indent="-241875" lvl="1">
              <a:lnSpc>
                <a:spcPts val="2688"/>
              </a:lnSpc>
              <a:buFont typeface="Arial"/>
              <a:buChar char="•"/>
            </a:pPr>
            <a:r>
              <a:rPr lang="en-US" sz="2240">
                <a:solidFill>
                  <a:srgbClr val="1E1E1E"/>
                </a:solidFill>
                <a:latin typeface="Times New Roman"/>
                <a:ea typeface="Times New Roman"/>
                <a:cs typeface="Times New Roman"/>
                <a:sym typeface="Times New Roman"/>
              </a:rPr>
              <a:t>The</a:t>
            </a:r>
            <a:r>
              <a:rPr lang="en-US" sz="2240">
                <a:solidFill>
                  <a:srgbClr val="1E1E1E"/>
                </a:solidFill>
                <a:latin typeface="Times New Roman"/>
                <a:ea typeface="Times New Roman"/>
                <a:cs typeface="Times New Roman"/>
                <a:sym typeface="Times New Roman"/>
              </a:rPr>
              <a:t> system provides an early warning alert when seizure risk is detected.</a:t>
            </a:r>
          </a:p>
          <a:p>
            <a:pPr algn="just" marL="483751" indent="-241875" lvl="1">
              <a:lnSpc>
                <a:spcPts val="2688"/>
              </a:lnSpc>
              <a:buFont typeface="Arial"/>
              <a:buChar char="•"/>
            </a:pPr>
            <a:r>
              <a:rPr lang="en-US" sz="2240">
                <a:solidFill>
                  <a:srgbClr val="1E1E1E"/>
                </a:solidFill>
                <a:latin typeface="Times New Roman"/>
                <a:ea typeface="Times New Roman"/>
                <a:cs typeface="Times New Roman"/>
                <a:sym typeface="Times New Roman"/>
              </a:rPr>
              <a:t>This h</a:t>
            </a:r>
            <a:r>
              <a:rPr lang="en-US" sz="2240">
                <a:solidFill>
                  <a:srgbClr val="1E1E1E"/>
                </a:solidFill>
                <a:latin typeface="Times New Roman"/>
                <a:ea typeface="Times New Roman"/>
                <a:cs typeface="Times New Roman"/>
                <a:sym typeface="Times New Roman"/>
              </a:rPr>
              <a:t>elps patients and caregivers take preventive action.</a:t>
            </a:r>
          </a:p>
          <a:p>
            <a:pPr algn="just">
              <a:lnSpc>
                <a:spcPts val="2688"/>
              </a:lnSpc>
            </a:pPr>
          </a:p>
          <a:p>
            <a:pPr algn="just">
              <a:lnSpc>
                <a:spcPts val="3196"/>
              </a:lnSpc>
            </a:pPr>
            <a:r>
              <a:rPr lang="en-US" sz="2663">
                <a:solidFill>
                  <a:srgbClr val="000000"/>
                </a:solidFill>
                <a:latin typeface="Times New Roman"/>
                <a:ea typeface="Times New Roman"/>
                <a:cs typeface="Times New Roman"/>
                <a:sym typeface="Times New Roman"/>
              </a:rPr>
              <a:t>            </a:t>
            </a:r>
          </a:p>
          <a:p>
            <a:pPr algn="just">
              <a:lnSpc>
                <a:spcPts val="3196"/>
              </a:lnSpc>
            </a:pPr>
          </a:p>
          <a:p>
            <a:pPr algn="just">
              <a:lnSpc>
                <a:spcPts val="3196"/>
              </a:lnSpc>
            </a:pPr>
          </a:p>
        </p:txBody>
      </p:sp>
      <p:sp>
        <p:nvSpPr>
          <p:cNvPr name="Freeform 3" id="3"/>
          <p:cNvSpPr/>
          <p:nvPr/>
        </p:nvSpPr>
        <p:spPr>
          <a:xfrm flipH="false" flipV="false" rot="0">
            <a:off x="0" y="47415"/>
            <a:ext cx="2386927" cy="805348"/>
          </a:xfrm>
          <a:custGeom>
            <a:avLst/>
            <a:gdLst/>
            <a:ahLst/>
            <a:cxnLst/>
            <a:rect r="r" b="b" t="t" l="l"/>
            <a:pathLst>
              <a:path h="805348" w="2386927">
                <a:moveTo>
                  <a:pt x="0" y="0"/>
                </a:moveTo>
                <a:lnTo>
                  <a:pt x="2386927" y="0"/>
                </a:lnTo>
                <a:lnTo>
                  <a:pt x="2386927" y="805349"/>
                </a:lnTo>
                <a:lnTo>
                  <a:pt x="0" y="805349"/>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6</a:t>
              </a:r>
            </a:p>
          </p:txBody>
        </p:sp>
      </p:grpSp>
      <p:sp>
        <p:nvSpPr>
          <p:cNvPr name="Freeform 13" id="13"/>
          <p:cNvSpPr/>
          <p:nvPr/>
        </p:nvSpPr>
        <p:spPr>
          <a:xfrm flipH="false" flipV="false" rot="0">
            <a:off x="4795523" y="2574804"/>
            <a:ext cx="4389120" cy="3507545"/>
          </a:xfrm>
          <a:custGeom>
            <a:avLst/>
            <a:gdLst/>
            <a:ahLst/>
            <a:cxnLst/>
            <a:rect r="r" b="b" t="t" l="l"/>
            <a:pathLst>
              <a:path h="3507545" w="4389120">
                <a:moveTo>
                  <a:pt x="0" y="0"/>
                </a:moveTo>
                <a:lnTo>
                  <a:pt x="4389120" y="0"/>
                </a:lnTo>
                <a:lnTo>
                  <a:pt x="4389120" y="3507545"/>
                </a:lnTo>
                <a:lnTo>
                  <a:pt x="0" y="3507545"/>
                </a:lnTo>
                <a:lnTo>
                  <a:pt x="0" y="0"/>
                </a:lnTo>
                <a:close/>
              </a:path>
            </a:pathLst>
          </a:custGeom>
          <a:blipFill>
            <a:blip r:embed="rId4"/>
            <a:stretch>
              <a:fillRect l="0" t="0" r="0" b="0"/>
            </a:stretch>
          </a:blipFill>
        </p:spPr>
      </p:sp>
      <p:sp>
        <p:nvSpPr>
          <p:cNvPr name="TextBox 14" id="14"/>
          <p:cNvSpPr txBox="true"/>
          <p:nvPr/>
        </p:nvSpPr>
        <p:spPr>
          <a:xfrm rot="0">
            <a:off x="2601818" y="1286498"/>
            <a:ext cx="3345061" cy="590550"/>
          </a:xfrm>
          <a:prstGeom prst="rect">
            <a:avLst/>
          </a:prstGeom>
        </p:spPr>
        <p:txBody>
          <a:bodyPr anchor="t" rtlCol="false" tIns="0" lIns="0" bIns="0" rIns="0">
            <a:spAutoFit/>
          </a:bodyPr>
          <a:lstStyle/>
          <a:p>
            <a:pPr algn="ctr">
              <a:lnSpc>
                <a:spcPts val="4175"/>
              </a:lnSpc>
              <a:spcBef>
                <a:spcPct val="0"/>
              </a:spcBef>
            </a:pPr>
            <a:r>
              <a:rPr lang="en-US" b="true" sz="3479">
                <a:solidFill>
                  <a:srgbClr val="5E17EB"/>
                </a:solidFill>
                <a:latin typeface="Calibri (MS) Bold"/>
                <a:ea typeface="Calibri (MS) Bold"/>
                <a:cs typeface="Calibri (MS) Bold"/>
                <a:sym typeface="Calibri (MS) Bold"/>
              </a:rPr>
              <a:t> Proposed System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055855" y="818451"/>
            <a:ext cx="5641899" cy="542925"/>
          </a:xfrm>
          <a:prstGeom prst="rect">
            <a:avLst/>
          </a:prstGeom>
        </p:spPr>
        <p:txBody>
          <a:bodyPr anchor="t" rtlCol="false" tIns="0" lIns="0" bIns="0" rIns="0">
            <a:spAutoFit/>
          </a:bodyPr>
          <a:lstStyle/>
          <a:p>
            <a:pPr algn="ctr">
              <a:lnSpc>
                <a:spcPts val="4183"/>
              </a:lnSpc>
            </a:pPr>
            <a:r>
              <a:rPr lang="en-US" b="true" sz="3486">
                <a:solidFill>
                  <a:srgbClr val="5E17EB"/>
                </a:solidFill>
                <a:latin typeface="Times New Roman Bold"/>
                <a:ea typeface="Times New Roman Bold"/>
                <a:cs typeface="Times New Roman Bold"/>
                <a:sym typeface="Times New Roman Bold"/>
              </a:rPr>
              <a:t>Flow </a:t>
            </a:r>
            <a:r>
              <a:rPr lang="en-US" b="true" sz="3486">
                <a:solidFill>
                  <a:srgbClr val="5E17EB"/>
                </a:solidFill>
                <a:latin typeface="Times New Roman Bold"/>
                <a:ea typeface="Times New Roman Bold"/>
                <a:cs typeface="Times New Roman Bold"/>
                <a:sym typeface="Times New Roman Bold"/>
              </a:rPr>
              <a:t>of the proposed model</a:t>
            </a:r>
          </a:p>
        </p:txBody>
      </p:sp>
      <p:sp>
        <p:nvSpPr>
          <p:cNvPr name="Freeform 3" id="3"/>
          <p:cNvSpPr/>
          <p:nvPr/>
        </p:nvSpPr>
        <p:spPr>
          <a:xfrm flipH="false" flipV="false" rot="0">
            <a:off x="0" y="61255"/>
            <a:ext cx="2386927" cy="805348"/>
          </a:xfrm>
          <a:custGeom>
            <a:avLst/>
            <a:gdLst/>
            <a:ahLst/>
            <a:cxnLst/>
            <a:rect r="r" b="b" t="t" l="l"/>
            <a:pathLst>
              <a:path h="805348" w="2386927">
                <a:moveTo>
                  <a:pt x="0" y="0"/>
                </a:moveTo>
                <a:lnTo>
                  <a:pt x="2386927" y="0"/>
                </a:lnTo>
                <a:lnTo>
                  <a:pt x="2386927" y="805349"/>
                </a:lnTo>
                <a:lnTo>
                  <a:pt x="0" y="805349"/>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7</a:t>
              </a:r>
            </a:p>
          </p:txBody>
        </p:sp>
      </p:grpSp>
      <p:grpSp>
        <p:nvGrpSpPr>
          <p:cNvPr name="Group 13" id="13"/>
          <p:cNvGrpSpPr/>
          <p:nvPr/>
        </p:nvGrpSpPr>
        <p:grpSpPr>
          <a:xfrm rot="0">
            <a:off x="731520" y="1942401"/>
            <a:ext cx="2031997" cy="933390"/>
            <a:chOff x="0" y="0"/>
            <a:chExt cx="2178380" cy="1000631"/>
          </a:xfrm>
        </p:grpSpPr>
        <p:sp>
          <p:nvSpPr>
            <p:cNvPr name="Freeform 14" id="14"/>
            <p:cNvSpPr/>
            <p:nvPr/>
          </p:nvSpPr>
          <p:spPr>
            <a:xfrm flipH="false" flipV="false" rot="0">
              <a:off x="48260" y="48260"/>
              <a:ext cx="2130120" cy="952371"/>
            </a:xfrm>
            <a:custGeom>
              <a:avLst/>
              <a:gdLst/>
              <a:ahLst/>
              <a:cxnLst/>
              <a:rect r="r" b="b" t="t" l="l"/>
              <a:pathLst>
                <a:path h="952371" w="2130120">
                  <a:moveTo>
                    <a:pt x="0" y="0"/>
                  </a:moveTo>
                  <a:lnTo>
                    <a:pt x="2130120" y="0"/>
                  </a:lnTo>
                  <a:lnTo>
                    <a:pt x="2130120" y="952371"/>
                  </a:lnTo>
                  <a:lnTo>
                    <a:pt x="0" y="952371"/>
                  </a:lnTo>
                  <a:close/>
                </a:path>
              </a:pathLst>
            </a:custGeom>
            <a:solidFill>
              <a:srgbClr val="6155A6"/>
            </a:solidFill>
          </p:spPr>
        </p:sp>
        <p:sp>
          <p:nvSpPr>
            <p:cNvPr name="Freeform 15" id="15"/>
            <p:cNvSpPr/>
            <p:nvPr/>
          </p:nvSpPr>
          <p:spPr>
            <a:xfrm flipH="false" flipV="false" rot="0">
              <a:off x="6350" y="6350"/>
              <a:ext cx="2130120" cy="952371"/>
            </a:xfrm>
            <a:custGeom>
              <a:avLst/>
              <a:gdLst/>
              <a:ahLst/>
              <a:cxnLst/>
              <a:rect r="r" b="b" t="t" l="l"/>
              <a:pathLst>
                <a:path h="952371" w="2130120">
                  <a:moveTo>
                    <a:pt x="0" y="0"/>
                  </a:moveTo>
                  <a:lnTo>
                    <a:pt x="2130120" y="0"/>
                  </a:lnTo>
                  <a:lnTo>
                    <a:pt x="2130120" y="952371"/>
                  </a:lnTo>
                  <a:lnTo>
                    <a:pt x="0" y="952371"/>
                  </a:lnTo>
                  <a:close/>
                </a:path>
              </a:pathLst>
            </a:custGeom>
            <a:solidFill>
              <a:srgbClr val="D3C9E8"/>
            </a:solidFill>
          </p:spPr>
        </p:sp>
        <p:sp>
          <p:nvSpPr>
            <p:cNvPr name="Freeform 16" id="16"/>
            <p:cNvSpPr/>
            <p:nvPr/>
          </p:nvSpPr>
          <p:spPr>
            <a:xfrm flipH="false" flipV="false" rot="0">
              <a:off x="0" y="0"/>
              <a:ext cx="2142820" cy="965071"/>
            </a:xfrm>
            <a:custGeom>
              <a:avLst/>
              <a:gdLst/>
              <a:ahLst/>
              <a:cxnLst/>
              <a:rect r="r" b="b" t="t" l="l"/>
              <a:pathLst>
                <a:path h="965071" w="2142820">
                  <a:moveTo>
                    <a:pt x="2142820" y="965071"/>
                  </a:moveTo>
                  <a:lnTo>
                    <a:pt x="0" y="965071"/>
                  </a:lnTo>
                  <a:lnTo>
                    <a:pt x="0" y="0"/>
                  </a:lnTo>
                  <a:lnTo>
                    <a:pt x="2142820" y="0"/>
                  </a:lnTo>
                  <a:lnTo>
                    <a:pt x="2142820" y="965071"/>
                  </a:lnTo>
                  <a:close/>
                  <a:moveTo>
                    <a:pt x="12700" y="952371"/>
                  </a:moveTo>
                  <a:lnTo>
                    <a:pt x="2130120" y="952371"/>
                  </a:lnTo>
                  <a:lnTo>
                    <a:pt x="2130120" y="12700"/>
                  </a:lnTo>
                  <a:lnTo>
                    <a:pt x="12700" y="12700"/>
                  </a:lnTo>
                  <a:lnTo>
                    <a:pt x="12700" y="952371"/>
                  </a:lnTo>
                  <a:close/>
                </a:path>
              </a:pathLst>
            </a:custGeom>
            <a:solidFill>
              <a:srgbClr val="270949"/>
            </a:solidFill>
          </p:spPr>
        </p:sp>
      </p:grpSp>
      <p:sp>
        <p:nvSpPr>
          <p:cNvPr name="AutoShape 17" id="17"/>
          <p:cNvSpPr/>
          <p:nvPr/>
        </p:nvSpPr>
        <p:spPr>
          <a:xfrm>
            <a:off x="7902590" y="2388637"/>
            <a:ext cx="702496" cy="0"/>
          </a:xfrm>
          <a:prstGeom prst="line">
            <a:avLst/>
          </a:prstGeom>
          <a:ln cap="rnd" w="28575">
            <a:solidFill>
              <a:srgbClr val="6155A6"/>
            </a:solidFill>
            <a:prstDash val="solid"/>
            <a:headEnd type="none" len="sm" w="sm"/>
            <a:tailEnd type="none" len="sm" w="sm"/>
          </a:ln>
        </p:spPr>
      </p:sp>
      <p:grpSp>
        <p:nvGrpSpPr>
          <p:cNvPr name="Group 18" id="18"/>
          <p:cNvGrpSpPr/>
          <p:nvPr/>
        </p:nvGrpSpPr>
        <p:grpSpPr>
          <a:xfrm rot="0">
            <a:off x="5004396" y="3402150"/>
            <a:ext cx="2183378" cy="1397258"/>
            <a:chOff x="0" y="0"/>
            <a:chExt cx="2688844" cy="1720732"/>
          </a:xfrm>
        </p:grpSpPr>
        <p:sp>
          <p:nvSpPr>
            <p:cNvPr name="Freeform 19" id="19"/>
            <p:cNvSpPr/>
            <p:nvPr/>
          </p:nvSpPr>
          <p:spPr>
            <a:xfrm flipH="false" flipV="false" rot="0">
              <a:off x="48260" y="48260"/>
              <a:ext cx="2640584" cy="1672472"/>
            </a:xfrm>
            <a:custGeom>
              <a:avLst/>
              <a:gdLst/>
              <a:ahLst/>
              <a:cxnLst/>
              <a:rect r="r" b="b" t="t" l="l"/>
              <a:pathLst>
                <a:path h="1672472" w="2640584">
                  <a:moveTo>
                    <a:pt x="0" y="0"/>
                  </a:moveTo>
                  <a:lnTo>
                    <a:pt x="2640584" y="0"/>
                  </a:lnTo>
                  <a:lnTo>
                    <a:pt x="2640584" y="1672472"/>
                  </a:lnTo>
                  <a:lnTo>
                    <a:pt x="0" y="1672472"/>
                  </a:lnTo>
                  <a:close/>
                </a:path>
              </a:pathLst>
            </a:custGeom>
            <a:solidFill>
              <a:srgbClr val="6155A6"/>
            </a:solidFill>
          </p:spPr>
        </p:sp>
        <p:sp>
          <p:nvSpPr>
            <p:cNvPr name="Freeform 20" id="20"/>
            <p:cNvSpPr/>
            <p:nvPr/>
          </p:nvSpPr>
          <p:spPr>
            <a:xfrm flipH="false" flipV="false" rot="0">
              <a:off x="6350" y="6350"/>
              <a:ext cx="2640584" cy="1672472"/>
            </a:xfrm>
            <a:custGeom>
              <a:avLst/>
              <a:gdLst/>
              <a:ahLst/>
              <a:cxnLst/>
              <a:rect r="r" b="b" t="t" l="l"/>
              <a:pathLst>
                <a:path h="1672472" w="2640584">
                  <a:moveTo>
                    <a:pt x="0" y="0"/>
                  </a:moveTo>
                  <a:lnTo>
                    <a:pt x="2640584" y="0"/>
                  </a:lnTo>
                  <a:lnTo>
                    <a:pt x="2640584" y="1672472"/>
                  </a:lnTo>
                  <a:lnTo>
                    <a:pt x="0" y="1672472"/>
                  </a:lnTo>
                  <a:close/>
                </a:path>
              </a:pathLst>
            </a:custGeom>
            <a:solidFill>
              <a:srgbClr val="D3C9E8"/>
            </a:solidFill>
          </p:spPr>
        </p:sp>
        <p:sp>
          <p:nvSpPr>
            <p:cNvPr name="Freeform 21" id="21"/>
            <p:cNvSpPr/>
            <p:nvPr/>
          </p:nvSpPr>
          <p:spPr>
            <a:xfrm flipH="false" flipV="false" rot="0">
              <a:off x="0" y="0"/>
              <a:ext cx="2653284" cy="1685172"/>
            </a:xfrm>
            <a:custGeom>
              <a:avLst/>
              <a:gdLst/>
              <a:ahLst/>
              <a:cxnLst/>
              <a:rect r="r" b="b" t="t" l="l"/>
              <a:pathLst>
                <a:path h="1685172" w="2653284">
                  <a:moveTo>
                    <a:pt x="2653284" y="1685172"/>
                  </a:moveTo>
                  <a:lnTo>
                    <a:pt x="0" y="1685172"/>
                  </a:lnTo>
                  <a:lnTo>
                    <a:pt x="0" y="0"/>
                  </a:lnTo>
                  <a:lnTo>
                    <a:pt x="2653284" y="0"/>
                  </a:lnTo>
                  <a:lnTo>
                    <a:pt x="2653284" y="1685172"/>
                  </a:lnTo>
                  <a:close/>
                  <a:moveTo>
                    <a:pt x="12700" y="1672472"/>
                  </a:moveTo>
                  <a:lnTo>
                    <a:pt x="2640584" y="1672472"/>
                  </a:lnTo>
                  <a:lnTo>
                    <a:pt x="2640584" y="12700"/>
                  </a:lnTo>
                  <a:lnTo>
                    <a:pt x="12700" y="12700"/>
                  </a:lnTo>
                  <a:lnTo>
                    <a:pt x="12700" y="1672472"/>
                  </a:lnTo>
                  <a:close/>
                </a:path>
              </a:pathLst>
            </a:custGeom>
            <a:solidFill>
              <a:srgbClr val="270949"/>
            </a:solidFill>
          </p:spPr>
        </p:sp>
      </p:grpSp>
      <p:sp>
        <p:nvSpPr>
          <p:cNvPr name="AutoShape 22" id="22"/>
          <p:cNvSpPr/>
          <p:nvPr/>
        </p:nvSpPr>
        <p:spPr>
          <a:xfrm>
            <a:off x="2750443" y="2431339"/>
            <a:ext cx="674497" cy="0"/>
          </a:xfrm>
          <a:prstGeom prst="line">
            <a:avLst/>
          </a:prstGeom>
          <a:ln cap="rnd" w="28575">
            <a:solidFill>
              <a:srgbClr val="6155A6"/>
            </a:solidFill>
            <a:prstDash val="solid"/>
            <a:headEnd type="none" len="sm" w="sm"/>
            <a:tailEnd type="triangle" len="med" w="lg"/>
          </a:ln>
        </p:spPr>
      </p:sp>
      <p:sp>
        <p:nvSpPr>
          <p:cNvPr name="AutoShape 23" id="23"/>
          <p:cNvSpPr/>
          <p:nvPr/>
        </p:nvSpPr>
        <p:spPr>
          <a:xfrm>
            <a:off x="746381" y="6042420"/>
            <a:ext cx="1402421" cy="0"/>
          </a:xfrm>
          <a:prstGeom prst="line">
            <a:avLst/>
          </a:prstGeom>
          <a:ln cap="rnd" w="28575">
            <a:solidFill>
              <a:srgbClr val="6155A6"/>
            </a:solidFill>
            <a:prstDash val="solid"/>
            <a:headEnd type="none" len="sm" w="sm"/>
            <a:tailEnd type="triangle" len="med" w="lg"/>
          </a:ln>
        </p:spPr>
      </p:sp>
      <p:sp>
        <p:nvSpPr>
          <p:cNvPr name="AutoShape 24" id="24"/>
          <p:cNvSpPr/>
          <p:nvPr/>
        </p:nvSpPr>
        <p:spPr>
          <a:xfrm>
            <a:off x="8605086" y="2388637"/>
            <a:ext cx="0" cy="1726429"/>
          </a:xfrm>
          <a:prstGeom prst="line">
            <a:avLst/>
          </a:prstGeom>
          <a:ln cap="rnd" w="28575">
            <a:solidFill>
              <a:srgbClr val="6155A6"/>
            </a:solidFill>
            <a:prstDash val="solid"/>
            <a:headEnd type="none" len="sm" w="sm"/>
            <a:tailEnd type="none" len="sm" w="sm"/>
          </a:ln>
        </p:spPr>
      </p:sp>
      <p:grpSp>
        <p:nvGrpSpPr>
          <p:cNvPr name="Group 25" id="25"/>
          <p:cNvGrpSpPr/>
          <p:nvPr/>
        </p:nvGrpSpPr>
        <p:grpSpPr>
          <a:xfrm rot="0">
            <a:off x="3471452" y="1942401"/>
            <a:ext cx="2024738" cy="1031619"/>
            <a:chOff x="0" y="0"/>
            <a:chExt cx="2010718" cy="1024475"/>
          </a:xfrm>
        </p:grpSpPr>
        <p:sp>
          <p:nvSpPr>
            <p:cNvPr name="Freeform 26" id="26"/>
            <p:cNvSpPr/>
            <p:nvPr/>
          </p:nvSpPr>
          <p:spPr>
            <a:xfrm flipH="false" flipV="false" rot="0">
              <a:off x="48260" y="48260"/>
              <a:ext cx="1962458" cy="976215"/>
            </a:xfrm>
            <a:custGeom>
              <a:avLst/>
              <a:gdLst/>
              <a:ahLst/>
              <a:cxnLst/>
              <a:rect r="r" b="b" t="t" l="l"/>
              <a:pathLst>
                <a:path h="976215" w="1962458">
                  <a:moveTo>
                    <a:pt x="0" y="0"/>
                  </a:moveTo>
                  <a:lnTo>
                    <a:pt x="1962458" y="0"/>
                  </a:lnTo>
                  <a:lnTo>
                    <a:pt x="1962458" y="976215"/>
                  </a:lnTo>
                  <a:lnTo>
                    <a:pt x="0" y="976215"/>
                  </a:lnTo>
                  <a:close/>
                </a:path>
              </a:pathLst>
            </a:custGeom>
            <a:solidFill>
              <a:srgbClr val="6155A6"/>
            </a:solidFill>
          </p:spPr>
        </p:sp>
        <p:sp>
          <p:nvSpPr>
            <p:cNvPr name="Freeform 27" id="27"/>
            <p:cNvSpPr/>
            <p:nvPr/>
          </p:nvSpPr>
          <p:spPr>
            <a:xfrm flipH="false" flipV="false" rot="0">
              <a:off x="6350" y="6350"/>
              <a:ext cx="1962458" cy="976215"/>
            </a:xfrm>
            <a:custGeom>
              <a:avLst/>
              <a:gdLst/>
              <a:ahLst/>
              <a:cxnLst/>
              <a:rect r="r" b="b" t="t" l="l"/>
              <a:pathLst>
                <a:path h="976215" w="1962458">
                  <a:moveTo>
                    <a:pt x="0" y="0"/>
                  </a:moveTo>
                  <a:lnTo>
                    <a:pt x="1962458" y="0"/>
                  </a:lnTo>
                  <a:lnTo>
                    <a:pt x="1962458" y="976215"/>
                  </a:lnTo>
                  <a:lnTo>
                    <a:pt x="0" y="976215"/>
                  </a:lnTo>
                  <a:close/>
                </a:path>
              </a:pathLst>
            </a:custGeom>
            <a:solidFill>
              <a:srgbClr val="D3C9E8"/>
            </a:solidFill>
          </p:spPr>
        </p:sp>
        <p:sp>
          <p:nvSpPr>
            <p:cNvPr name="Freeform 28" id="28"/>
            <p:cNvSpPr/>
            <p:nvPr/>
          </p:nvSpPr>
          <p:spPr>
            <a:xfrm flipH="false" flipV="false" rot="0">
              <a:off x="0" y="0"/>
              <a:ext cx="1975158" cy="988915"/>
            </a:xfrm>
            <a:custGeom>
              <a:avLst/>
              <a:gdLst/>
              <a:ahLst/>
              <a:cxnLst/>
              <a:rect r="r" b="b" t="t" l="l"/>
              <a:pathLst>
                <a:path h="988915" w="1975158">
                  <a:moveTo>
                    <a:pt x="1975158" y="988915"/>
                  </a:moveTo>
                  <a:lnTo>
                    <a:pt x="0" y="988915"/>
                  </a:lnTo>
                  <a:lnTo>
                    <a:pt x="0" y="0"/>
                  </a:lnTo>
                  <a:lnTo>
                    <a:pt x="1975158" y="0"/>
                  </a:lnTo>
                  <a:lnTo>
                    <a:pt x="1975158" y="988915"/>
                  </a:lnTo>
                  <a:close/>
                  <a:moveTo>
                    <a:pt x="12700" y="976215"/>
                  </a:moveTo>
                  <a:lnTo>
                    <a:pt x="1962458" y="976215"/>
                  </a:lnTo>
                  <a:lnTo>
                    <a:pt x="1962458" y="12700"/>
                  </a:lnTo>
                  <a:lnTo>
                    <a:pt x="12700" y="12700"/>
                  </a:lnTo>
                  <a:lnTo>
                    <a:pt x="12700" y="976215"/>
                  </a:lnTo>
                  <a:close/>
                </a:path>
              </a:pathLst>
            </a:custGeom>
            <a:solidFill>
              <a:srgbClr val="270949"/>
            </a:solidFill>
          </p:spPr>
        </p:sp>
      </p:grpSp>
      <p:sp>
        <p:nvSpPr>
          <p:cNvPr name="AutoShape 29" id="29"/>
          <p:cNvSpPr/>
          <p:nvPr/>
        </p:nvSpPr>
        <p:spPr>
          <a:xfrm>
            <a:off x="5496190" y="2431339"/>
            <a:ext cx="674497" cy="0"/>
          </a:xfrm>
          <a:prstGeom prst="line">
            <a:avLst/>
          </a:prstGeom>
          <a:ln cap="rnd" w="28575">
            <a:solidFill>
              <a:srgbClr val="6155A6"/>
            </a:solidFill>
            <a:prstDash val="solid"/>
            <a:headEnd type="none" len="sm" w="sm"/>
            <a:tailEnd type="triangle" len="med" w="lg"/>
          </a:ln>
        </p:spPr>
      </p:sp>
      <p:grpSp>
        <p:nvGrpSpPr>
          <p:cNvPr name="Group 30" id="30"/>
          <p:cNvGrpSpPr/>
          <p:nvPr/>
        </p:nvGrpSpPr>
        <p:grpSpPr>
          <a:xfrm rot="0">
            <a:off x="6170687" y="1964643"/>
            <a:ext cx="2034173" cy="1009377"/>
            <a:chOff x="0" y="0"/>
            <a:chExt cx="2016548" cy="1000631"/>
          </a:xfrm>
        </p:grpSpPr>
        <p:sp>
          <p:nvSpPr>
            <p:cNvPr name="Freeform 31" id="31"/>
            <p:cNvSpPr/>
            <p:nvPr/>
          </p:nvSpPr>
          <p:spPr>
            <a:xfrm flipH="false" flipV="false" rot="0">
              <a:off x="48260" y="48260"/>
              <a:ext cx="1968288" cy="952371"/>
            </a:xfrm>
            <a:custGeom>
              <a:avLst/>
              <a:gdLst/>
              <a:ahLst/>
              <a:cxnLst/>
              <a:rect r="r" b="b" t="t" l="l"/>
              <a:pathLst>
                <a:path h="952371" w="1968288">
                  <a:moveTo>
                    <a:pt x="0" y="0"/>
                  </a:moveTo>
                  <a:lnTo>
                    <a:pt x="1968288" y="0"/>
                  </a:lnTo>
                  <a:lnTo>
                    <a:pt x="1968288" y="952371"/>
                  </a:lnTo>
                  <a:lnTo>
                    <a:pt x="0" y="952371"/>
                  </a:lnTo>
                  <a:close/>
                </a:path>
              </a:pathLst>
            </a:custGeom>
            <a:solidFill>
              <a:srgbClr val="6155A6"/>
            </a:solidFill>
          </p:spPr>
        </p:sp>
        <p:sp>
          <p:nvSpPr>
            <p:cNvPr name="Freeform 32" id="32"/>
            <p:cNvSpPr/>
            <p:nvPr/>
          </p:nvSpPr>
          <p:spPr>
            <a:xfrm flipH="false" flipV="false" rot="0">
              <a:off x="6350" y="6350"/>
              <a:ext cx="1968288" cy="952371"/>
            </a:xfrm>
            <a:custGeom>
              <a:avLst/>
              <a:gdLst/>
              <a:ahLst/>
              <a:cxnLst/>
              <a:rect r="r" b="b" t="t" l="l"/>
              <a:pathLst>
                <a:path h="952371" w="1968288">
                  <a:moveTo>
                    <a:pt x="0" y="0"/>
                  </a:moveTo>
                  <a:lnTo>
                    <a:pt x="1968288" y="0"/>
                  </a:lnTo>
                  <a:lnTo>
                    <a:pt x="1968288" y="952371"/>
                  </a:lnTo>
                  <a:lnTo>
                    <a:pt x="0" y="952371"/>
                  </a:lnTo>
                  <a:close/>
                </a:path>
              </a:pathLst>
            </a:custGeom>
            <a:solidFill>
              <a:srgbClr val="D3C9E8"/>
            </a:solidFill>
          </p:spPr>
        </p:sp>
        <p:sp>
          <p:nvSpPr>
            <p:cNvPr name="Freeform 33" id="33"/>
            <p:cNvSpPr/>
            <p:nvPr/>
          </p:nvSpPr>
          <p:spPr>
            <a:xfrm flipH="false" flipV="false" rot="0">
              <a:off x="0" y="0"/>
              <a:ext cx="1980988" cy="965071"/>
            </a:xfrm>
            <a:custGeom>
              <a:avLst/>
              <a:gdLst/>
              <a:ahLst/>
              <a:cxnLst/>
              <a:rect r="r" b="b" t="t" l="l"/>
              <a:pathLst>
                <a:path h="965071" w="1980988">
                  <a:moveTo>
                    <a:pt x="1980988" y="965071"/>
                  </a:moveTo>
                  <a:lnTo>
                    <a:pt x="0" y="965071"/>
                  </a:lnTo>
                  <a:lnTo>
                    <a:pt x="0" y="0"/>
                  </a:lnTo>
                  <a:lnTo>
                    <a:pt x="1980988" y="0"/>
                  </a:lnTo>
                  <a:lnTo>
                    <a:pt x="1980988" y="965071"/>
                  </a:lnTo>
                  <a:close/>
                  <a:moveTo>
                    <a:pt x="12700" y="952371"/>
                  </a:moveTo>
                  <a:lnTo>
                    <a:pt x="1968288" y="952371"/>
                  </a:lnTo>
                  <a:lnTo>
                    <a:pt x="1968288" y="12700"/>
                  </a:lnTo>
                  <a:lnTo>
                    <a:pt x="12700" y="12700"/>
                  </a:lnTo>
                  <a:lnTo>
                    <a:pt x="12700" y="952371"/>
                  </a:lnTo>
                  <a:close/>
                </a:path>
              </a:pathLst>
            </a:custGeom>
            <a:solidFill>
              <a:srgbClr val="270949"/>
            </a:solidFill>
          </p:spPr>
        </p:sp>
      </p:grpSp>
      <p:grpSp>
        <p:nvGrpSpPr>
          <p:cNvPr name="Group 34" id="34"/>
          <p:cNvGrpSpPr/>
          <p:nvPr/>
        </p:nvGrpSpPr>
        <p:grpSpPr>
          <a:xfrm rot="0">
            <a:off x="2036803" y="3402150"/>
            <a:ext cx="2357992" cy="1397258"/>
            <a:chOff x="0" y="0"/>
            <a:chExt cx="2688844" cy="1593308"/>
          </a:xfrm>
        </p:grpSpPr>
        <p:sp>
          <p:nvSpPr>
            <p:cNvPr name="Freeform 35" id="35"/>
            <p:cNvSpPr/>
            <p:nvPr/>
          </p:nvSpPr>
          <p:spPr>
            <a:xfrm flipH="false" flipV="false" rot="0">
              <a:off x="48260" y="48260"/>
              <a:ext cx="2640584" cy="1545048"/>
            </a:xfrm>
            <a:custGeom>
              <a:avLst/>
              <a:gdLst/>
              <a:ahLst/>
              <a:cxnLst/>
              <a:rect r="r" b="b" t="t" l="l"/>
              <a:pathLst>
                <a:path h="1545048" w="2640584">
                  <a:moveTo>
                    <a:pt x="0" y="0"/>
                  </a:moveTo>
                  <a:lnTo>
                    <a:pt x="2640584" y="0"/>
                  </a:lnTo>
                  <a:lnTo>
                    <a:pt x="2640584" y="1545048"/>
                  </a:lnTo>
                  <a:lnTo>
                    <a:pt x="0" y="1545048"/>
                  </a:lnTo>
                  <a:close/>
                </a:path>
              </a:pathLst>
            </a:custGeom>
            <a:solidFill>
              <a:srgbClr val="6155A6"/>
            </a:solidFill>
          </p:spPr>
        </p:sp>
        <p:sp>
          <p:nvSpPr>
            <p:cNvPr name="Freeform 36" id="36"/>
            <p:cNvSpPr/>
            <p:nvPr/>
          </p:nvSpPr>
          <p:spPr>
            <a:xfrm flipH="false" flipV="false" rot="0">
              <a:off x="6350" y="6350"/>
              <a:ext cx="2640584" cy="1545048"/>
            </a:xfrm>
            <a:custGeom>
              <a:avLst/>
              <a:gdLst/>
              <a:ahLst/>
              <a:cxnLst/>
              <a:rect r="r" b="b" t="t" l="l"/>
              <a:pathLst>
                <a:path h="1545048" w="2640584">
                  <a:moveTo>
                    <a:pt x="0" y="0"/>
                  </a:moveTo>
                  <a:lnTo>
                    <a:pt x="2640584" y="0"/>
                  </a:lnTo>
                  <a:lnTo>
                    <a:pt x="2640584" y="1545048"/>
                  </a:lnTo>
                  <a:lnTo>
                    <a:pt x="0" y="1545048"/>
                  </a:lnTo>
                  <a:close/>
                </a:path>
              </a:pathLst>
            </a:custGeom>
            <a:solidFill>
              <a:srgbClr val="D3C9E8"/>
            </a:solidFill>
          </p:spPr>
        </p:sp>
        <p:sp>
          <p:nvSpPr>
            <p:cNvPr name="Freeform 37" id="37"/>
            <p:cNvSpPr/>
            <p:nvPr/>
          </p:nvSpPr>
          <p:spPr>
            <a:xfrm flipH="false" flipV="false" rot="0">
              <a:off x="0" y="0"/>
              <a:ext cx="2653284" cy="1557748"/>
            </a:xfrm>
            <a:custGeom>
              <a:avLst/>
              <a:gdLst/>
              <a:ahLst/>
              <a:cxnLst/>
              <a:rect r="r" b="b" t="t" l="l"/>
              <a:pathLst>
                <a:path h="1557748" w="2653284">
                  <a:moveTo>
                    <a:pt x="2653284" y="1557748"/>
                  </a:moveTo>
                  <a:lnTo>
                    <a:pt x="0" y="1557748"/>
                  </a:lnTo>
                  <a:lnTo>
                    <a:pt x="0" y="0"/>
                  </a:lnTo>
                  <a:lnTo>
                    <a:pt x="2653284" y="0"/>
                  </a:lnTo>
                  <a:lnTo>
                    <a:pt x="2653284" y="1557748"/>
                  </a:lnTo>
                  <a:close/>
                  <a:moveTo>
                    <a:pt x="12700" y="1545048"/>
                  </a:moveTo>
                  <a:lnTo>
                    <a:pt x="2640584" y="1545048"/>
                  </a:lnTo>
                  <a:lnTo>
                    <a:pt x="2640584" y="12700"/>
                  </a:lnTo>
                  <a:lnTo>
                    <a:pt x="12700" y="12700"/>
                  </a:lnTo>
                  <a:lnTo>
                    <a:pt x="12700" y="1545048"/>
                  </a:lnTo>
                  <a:close/>
                </a:path>
              </a:pathLst>
            </a:custGeom>
            <a:solidFill>
              <a:srgbClr val="270949"/>
            </a:solidFill>
          </p:spPr>
        </p:sp>
      </p:grpSp>
      <p:grpSp>
        <p:nvGrpSpPr>
          <p:cNvPr name="Group 38" id="38"/>
          <p:cNvGrpSpPr/>
          <p:nvPr/>
        </p:nvGrpSpPr>
        <p:grpSpPr>
          <a:xfrm rot="0">
            <a:off x="2148801" y="5506556"/>
            <a:ext cx="2367364" cy="1071728"/>
            <a:chOff x="0" y="0"/>
            <a:chExt cx="2688844" cy="1217265"/>
          </a:xfrm>
        </p:grpSpPr>
        <p:sp>
          <p:nvSpPr>
            <p:cNvPr name="Freeform 39" id="39"/>
            <p:cNvSpPr/>
            <p:nvPr/>
          </p:nvSpPr>
          <p:spPr>
            <a:xfrm flipH="false" flipV="false" rot="0">
              <a:off x="48260" y="48260"/>
              <a:ext cx="2640584" cy="1169005"/>
            </a:xfrm>
            <a:custGeom>
              <a:avLst/>
              <a:gdLst/>
              <a:ahLst/>
              <a:cxnLst/>
              <a:rect r="r" b="b" t="t" l="l"/>
              <a:pathLst>
                <a:path h="1169005" w="2640584">
                  <a:moveTo>
                    <a:pt x="0" y="0"/>
                  </a:moveTo>
                  <a:lnTo>
                    <a:pt x="2640584" y="0"/>
                  </a:lnTo>
                  <a:lnTo>
                    <a:pt x="2640584" y="1169005"/>
                  </a:lnTo>
                  <a:lnTo>
                    <a:pt x="0" y="1169005"/>
                  </a:lnTo>
                  <a:close/>
                </a:path>
              </a:pathLst>
            </a:custGeom>
            <a:solidFill>
              <a:srgbClr val="6155A6"/>
            </a:solidFill>
          </p:spPr>
        </p:sp>
        <p:sp>
          <p:nvSpPr>
            <p:cNvPr name="Freeform 40" id="40"/>
            <p:cNvSpPr/>
            <p:nvPr/>
          </p:nvSpPr>
          <p:spPr>
            <a:xfrm flipH="false" flipV="false" rot="0">
              <a:off x="6350" y="6350"/>
              <a:ext cx="2640584" cy="1169005"/>
            </a:xfrm>
            <a:custGeom>
              <a:avLst/>
              <a:gdLst/>
              <a:ahLst/>
              <a:cxnLst/>
              <a:rect r="r" b="b" t="t" l="l"/>
              <a:pathLst>
                <a:path h="1169005" w="2640584">
                  <a:moveTo>
                    <a:pt x="0" y="0"/>
                  </a:moveTo>
                  <a:lnTo>
                    <a:pt x="2640584" y="0"/>
                  </a:lnTo>
                  <a:lnTo>
                    <a:pt x="2640584" y="1169005"/>
                  </a:lnTo>
                  <a:lnTo>
                    <a:pt x="0" y="1169005"/>
                  </a:lnTo>
                  <a:close/>
                </a:path>
              </a:pathLst>
            </a:custGeom>
            <a:solidFill>
              <a:srgbClr val="D3C9E8"/>
            </a:solidFill>
          </p:spPr>
        </p:sp>
        <p:sp>
          <p:nvSpPr>
            <p:cNvPr name="Freeform 41" id="41"/>
            <p:cNvSpPr/>
            <p:nvPr/>
          </p:nvSpPr>
          <p:spPr>
            <a:xfrm flipH="false" flipV="false" rot="0">
              <a:off x="0" y="0"/>
              <a:ext cx="2653284" cy="1181705"/>
            </a:xfrm>
            <a:custGeom>
              <a:avLst/>
              <a:gdLst/>
              <a:ahLst/>
              <a:cxnLst/>
              <a:rect r="r" b="b" t="t" l="l"/>
              <a:pathLst>
                <a:path h="1181705" w="2653284">
                  <a:moveTo>
                    <a:pt x="2653284" y="1181705"/>
                  </a:moveTo>
                  <a:lnTo>
                    <a:pt x="0" y="1181705"/>
                  </a:lnTo>
                  <a:lnTo>
                    <a:pt x="0" y="0"/>
                  </a:lnTo>
                  <a:lnTo>
                    <a:pt x="2653284" y="0"/>
                  </a:lnTo>
                  <a:lnTo>
                    <a:pt x="2653284" y="1181705"/>
                  </a:lnTo>
                  <a:close/>
                  <a:moveTo>
                    <a:pt x="12700" y="1169005"/>
                  </a:moveTo>
                  <a:lnTo>
                    <a:pt x="2640584" y="1169005"/>
                  </a:lnTo>
                  <a:lnTo>
                    <a:pt x="2640584" y="12700"/>
                  </a:lnTo>
                  <a:lnTo>
                    <a:pt x="12700" y="12700"/>
                  </a:lnTo>
                  <a:lnTo>
                    <a:pt x="12700" y="1169005"/>
                  </a:lnTo>
                  <a:close/>
                </a:path>
              </a:pathLst>
            </a:custGeom>
            <a:solidFill>
              <a:srgbClr val="270949"/>
            </a:solidFill>
          </p:spPr>
        </p:sp>
      </p:grpSp>
      <p:sp>
        <p:nvSpPr>
          <p:cNvPr name="TextBox 42" id="42"/>
          <p:cNvSpPr txBox="true"/>
          <p:nvPr/>
        </p:nvSpPr>
        <p:spPr>
          <a:xfrm rot="0">
            <a:off x="718446" y="2057526"/>
            <a:ext cx="2031997" cy="763270"/>
          </a:xfrm>
          <a:prstGeom prst="rect">
            <a:avLst/>
          </a:prstGeom>
        </p:spPr>
        <p:txBody>
          <a:bodyPr anchor="t" rtlCol="false" tIns="0" lIns="0" bIns="0" rIns="0">
            <a:spAutoFit/>
          </a:bodyPr>
          <a:lstStyle/>
          <a:p>
            <a:pPr algn="ctr">
              <a:lnSpc>
                <a:spcPts val="3079"/>
              </a:lnSpc>
            </a:pPr>
            <a:r>
              <a:rPr lang="en-US" b="true" sz="2199">
                <a:solidFill>
                  <a:srgbClr val="000000"/>
                </a:solidFill>
                <a:latin typeface="Canva Sans Bold"/>
                <a:ea typeface="Canva Sans Bold"/>
                <a:cs typeface="Canva Sans Bold"/>
                <a:sym typeface="Canva Sans Bold"/>
              </a:rPr>
              <a:t>EEG</a:t>
            </a:r>
          </a:p>
          <a:p>
            <a:pPr algn="ctr">
              <a:lnSpc>
                <a:spcPts val="3079"/>
              </a:lnSpc>
            </a:pPr>
            <a:r>
              <a:rPr lang="en-US" b="true" sz="2199">
                <a:solidFill>
                  <a:srgbClr val="000000"/>
                </a:solidFill>
                <a:latin typeface="Canva Sans Bold"/>
                <a:ea typeface="Canva Sans Bold"/>
                <a:cs typeface="Canva Sans Bold"/>
                <a:sym typeface="Canva Sans Bold"/>
              </a:rPr>
              <a:t> DATASET</a:t>
            </a:r>
          </a:p>
        </p:txBody>
      </p:sp>
      <p:sp>
        <p:nvSpPr>
          <p:cNvPr name="TextBox 43" id="43"/>
          <p:cNvSpPr txBox="true"/>
          <p:nvPr/>
        </p:nvSpPr>
        <p:spPr>
          <a:xfrm rot="0">
            <a:off x="2169648" y="3515714"/>
            <a:ext cx="2031997" cy="1153795"/>
          </a:xfrm>
          <a:prstGeom prst="rect">
            <a:avLst/>
          </a:prstGeom>
        </p:spPr>
        <p:txBody>
          <a:bodyPr anchor="t" rtlCol="false" tIns="0" lIns="0" bIns="0" rIns="0">
            <a:spAutoFit/>
          </a:bodyPr>
          <a:lstStyle/>
          <a:p>
            <a:pPr algn="ctr">
              <a:lnSpc>
                <a:spcPts val="3079"/>
              </a:lnSpc>
            </a:pPr>
            <a:r>
              <a:rPr lang="en-US" sz="2199" b="true">
                <a:solidFill>
                  <a:srgbClr val="000000"/>
                </a:solidFill>
                <a:latin typeface="Canva Sans Bold"/>
                <a:ea typeface="Canva Sans Bold"/>
                <a:cs typeface="Canva Sans Bold"/>
                <a:sym typeface="Canva Sans Bold"/>
              </a:rPr>
              <a:t>Temporal </a:t>
            </a:r>
            <a:r>
              <a:rPr lang="en-US" b="true" sz="2199">
                <a:solidFill>
                  <a:srgbClr val="000000"/>
                </a:solidFill>
                <a:latin typeface="Canva Sans Bold"/>
                <a:ea typeface="Canva Sans Bold"/>
                <a:cs typeface="Canva Sans Bold"/>
                <a:sym typeface="Canva Sans Bold"/>
              </a:rPr>
              <a:t>Analysis</a:t>
            </a:r>
          </a:p>
          <a:p>
            <a:pPr algn="ctr">
              <a:lnSpc>
                <a:spcPts val="3079"/>
              </a:lnSpc>
            </a:pPr>
            <a:r>
              <a:rPr lang="en-US" b="true" sz="2199">
                <a:solidFill>
                  <a:srgbClr val="000000"/>
                </a:solidFill>
                <a:latin typeface="Canva Sans Bold"/>
                <a:ea typeface="Canva Sans Bold"/>
                <a:cs typeface="Canva Sans Bold"/>
                <a:sym typeface="Canva Sans Bold"/>
              </a:rPr>
              <a:t>(LSTM)</a:t>
            </a:r>
          </a:p>
        </p:txBody>
      </p:sp>
      <p:sp>
        <p:nvSpPr>
          <p:cNvPr name="TextBox 44" id="44"/>
          <p:cNvSpPr txBox="true"/>
          <p:nvPr/>
        </p:nvSpPr>
        <p:spPr>
          <a:xfrm rot="0">
            <a:off x="3467822" y="2057526"/>
            <a:ext cx="2031997" cy="763270"/>
          </a:xfrm>
          <a:prstGeom prst="rect">
            <a:avLst/>
          </a:prstGeom>
        </p:spPr>
        <p:txBody>
          <a:bodyPr anchor="t" rtlCol="false" tIns="0" lIns="0" bIns="0" rIns="0">
            <a:spAutoFit/>
          </a:bodyPr>
          <a:lstStyle/>
          <a:p>
            <a:pPr algn="ctr">
              <a:lnSpc>
                <a:spcPts val="3079"/>
              </a:lnSpc>
            </a:pPr>
            <a:r>
              <a:rPr lang="en-US" sz="2199" b="true">
                <a:solidFill>
                  <a:srgbClr val="000000"/>
                </a:solidFill>
                <a:latin typeface="Canva Sans Bold"/>
                <a:ea typeface="Canva Sans Bold"/>
                <a:cs typeface="Canva Sans Bold"/>
                <a:sym typeface="Canva Sans Bold"/>
              </a:rPr>
              <a:t>Dat</a:t>
            </a:r>
            <a:r>
              <a:rPr lang="en-US" b="true" sz="2199">
                <a:solidFill>
                  <a:srgbClr val="000000"/>
                </a:solidFill>
                <a:latin typeface="Canva Sans Bold"/>
                <a:ea typeface="Canva Sans Bold"/>
                <a:cs typeface="Canva Sans Bold"/>
                <a:sym typeface="Canva Sans Bold"/>
              </a:rPr>
              <a:t>a Acquisition</a:t>
            </a:r>
          </a:p>
        </p:txBody>
      </p:sp>
      <p:sp>
        <p:nvSpPr>
          <p:cNvPr name="TextBox 45" id="45"/>
          <p:cNvSpPr txBox="true"/>
          <p:nvPr/>
        </p:nvSpPr>
        <p:spPr>
          <a:xfrm rot="0">
            <a:off x="2316485" y="5637608"/>
            <a:ext cx="2031997" cy="763270"/>
          </a:xfrm>
          <a:prstGeom prst="rect">
            <a:avLst/>
          </a:prstGeom>
        </p:spPr>
        <p:txBody>
          <a:bodyPr anchor="t" rtlCol="false" tIns="0" lIns="0" bIns="0" rIns="0">
            <a:spAutoFit/>
          </a:bodyPr>
          <a:lstStyle/>
          <a:p>
            <a:pPr algn="ctr">
              <a:lnSpc>
                <a:spcPts val="3079"/>
              </a:lnSpc>
            </a:pPr>
            <a:r>
              <a:rPr lang="en-US" sz="2199" b="true">
                <a:solidFill>
                  <a:srgbClr val="000000"/>
                </a:solidFill>
                <a:latin typeface="Canva Sans Bold"/>
                <a:ea typeface="Canva Sans Bold"/>
                <a:cs typeface="Canva Sans Bold"/>
                <a:sym typeface="Canva Sans Bold"/>
              </a:rPr>
              <a:t>Se</a:t>
            </a:r>
            <a:r>
              <a:rPr lang="en-US" b="true" sz="2199">
                <a:solidFill>
                  <a:srgbClr val="000000"/>
                </a:solidFill>
                <a:latin typeface="Canva Sans Bold"/>
                <a:ea typeface="Canva Sans Bold"/>
                <a:cs typeface="Canva Sans Bold"/>
                <a:sym typeface="Canva Sans Bold"/>
              </a:rPr>
              <a:t>izure Prediction</a:t>
            </a:r>
          </a:p>
        </p:txBody>
      </p:sp>
      <p:sp>
        <p:nvSpPr>
          <p:cNvPr name="TextBox 46" id="46"/>
          <p:cNvSpPr txBox="true"/>
          <p:nvPr/>
        </p:nvSpPr>
        <p:spPr>
          <a:xfrm rot="0">
            <a:off x="6170687" y="2252788"/>
            <a:ext cx="2031997" cy="372745"/>
          </a:xfrm>
          <a:prstGeom prst="rect">
            <a:avLst/>
          </a:prstGeom>
        </p:spPr>
        <p:txBody>
          <a:bodyPr anchor="t" rtlCol="false" tIns="0" lIns="0" bIns="0" rIns="0">
            <a:spAutoFit/>
          </a:bodyPr>
          <a:lstStyle/>
          <a:p>
            <a:pPr algn="ctr">
              <a:lnSpc>
                <a:spcPts val="3079"/>
              </a:lnSpc>
            </a:pPr>
            <a:r>
              <a:rPr lang="en-US" sz="2199" b="true">
                <a:solidFill>
                  <a:srgbClr val="000000"/>
                </a:solidFill>
                <a:latin typeface="Canva Sans Bold"/>
                <a:ea typeface="Canva Sans Bold"/>
                <a:cs typeface="Canva Sans Bold"/>
                <a:sym typeface="Canva Sans Bold"/>
              </a:rPr>
              <a:t>Pr</a:t>
            </a:r>
            <a:r>
              <a:rPr lang="en-US" b="true" sz="2199">
                <a:solidFill>
                  <a:srgbClr val="000000"/>
                </a:solidFill>
                <a:latin typeface="Canva Sans Bold"/>
                <a:ea typeface="Canva Sans Bold"/>
                <a:cs typeface="Canva Sans Bold"/>
                <a:sym typeface="Canva Sans Bold"/>
              </a:rPr>
              <a:t>eprocessing</a:t>
            </a:r>
          </a:p>
        </p:txBody>
      </p:sp>
      <p:sp>
        <p:nvSpPr>
          <p:cNvPr name="TextBox 47" id="47"/>
          <p:cNvSpPr txBox="true"/>
          <p:nvPr/>
        </p:nvSpPr>
        <p:spPr>
          <a:xfrm rot="0">
            <a:off x="5093760" y="3525625"/>
            <a:ext cx="1995896" cy="1133973"/>
          </a:xfrm>
          <a:prstGeom prst="rect">
            <a:avLst/>
          </a:prstGeom>
        </p:spPr>
        <p:txBody>
          <a:bodyPr anchor="t" rtlCol="false" tIns="0" lIns="0" bIns="0" rIns="0">
            <a:spAutoFit/>
          </a:bodyPr>
          <a:lstStyle/>
          <a:p>
            <a:pPr algn="ctr">
              <a:lnSpc>
                <a:spcPts val="3025"/>
              </a:lnSpc>
            </a:pPr>
            <a:r>
              <a:rPr lang="en-US" sz="2160" b="true">
                <a:solidFill>
                  <a:srgbClr val="000000"/>
                </a:solidFill>
                <a:latin typeface="Canva Sans Bold"/>
                <a:ea typeface="Canva Sans Bold"/>
                <a:cs typeface="Canva Sans Bold"/>
                <a:sym typeface="Canva Sans Bold"/>
              </a:rPr>
              <a:t>Fe</a:t>
            </a:r>
            <a:r>
              <a:rPr lang="en-US" b="true" sz="2160">
                <a:solidFill>
                  <a:srgbClr val="000000"/>
                </a:solidFill>
                <a:latin typeface="Canva Sans Bold"/>
                <a:ea typeface="Canva Sans Bold"/>
                <a:cs typeface="Canva Sans Bold"/>
                <a:sym typeface="Canva Sans Bold"/>
              </a:rPr>
              <a:t>ature Learning</a:t>
            </a:r>
          </a:p>
          <a:p>
            <a:pPr algn="ctr">
              <a:lnSpc>
                <a:spcPts val="3025"/>
              </a:lnSpc>
            </a:pPr>
            <a:r>
              <a:rPr lang="en-US" b="true" sz="2160">
                <a:solidFill>
                  <a:srgbClr val="000000"/>
                </a:solidFill>
                <a:latin typeface="Canva Sans Bold"/>
                <a:ea typeface="Canva Sans Bold"/>
                <a:cs typeface="Canva Sans Bold"/>
                <a:sym typeface="Canva Sans Bold"/>
              </a:rPr>
              <a:t>(CNN)</a:t>
            </a:r>
          </a:p>
        </p:txBody>
      </p:sp>
      <p:sp>
        <p:nvSpPr>
          <p:cNvPr name="AutoShape 48" id="48"/>
          <p:cNvSpPr/>
          <p:nvPr/>
        </p:nvSpPr>
        <p:spPr>
          <a:xfrm>
            <a:off x="746381" y="4111661"/>
            <a:ext cx="14287" cy="1926631"/>
          </a:xfrm>
          <a:prstGeom prst="line">
            <a:avLst/>
          </a:prstGeom>
          <a:ln cap="rnd" w="28575">
            <a:solidFill>
              <a:srgbClr val="6155A6"/>
            </a:solidFill>
            <a:prstDash val="solid"/>
            <a:headEnd type="none" len="sm" w="sm"/>
            <a:tailEnd type="none" len="sm" w="sm"/>
          </a:ln>
        </p:spPr>
      </p:sp>
      <p:sp>
        <p:nvSpPr>
          <p:cNvPr name="AutoShape 49" id="49"/>
          <p:cNvSpPr/>
          <p:nvPr/>
        </p:nvSpPr>
        <p:spPr>
          <a:xfrm>
            <a:off x="731520" y="4115066"/>
            <a:ext cx="1164667" cy="36473"/>
          </a:xfrm>
          <a:prstGeom prst="line">
            <a:avLst/>
          </a:prstGeom>
          <a:ln cap="rnd" w="28575">
            <a:solidFill>
              <a:srgbClr val="6155A6"/>
            </a:solidFill>
            <a:prstDash val="solid"/>
            <a:headEnd type="none" len="sm" w="sm"/>
            <a:tailEnd type="none" len="sm" w="sm"/>
          </a:ln>
        </p:spPr>
      </p:sp>
      <p:sp>
        <p:nvSpPr>
          <p:cNvPr name="AutoShape 50" id="50"/>
          <p:cNvSpPr/>
          <p:nvPr/>
        </p:nvSpPr>
        <p:spPr>
          <a:xfrm>
            <a:off x="4394796" y="4129354"/>
            <a:ext cx="627343" cy="0"/>
          </a:xfrm>
          <a:prstGeom prst="line">
            <a:avLst/>
          </a:prstGeom>
          <a:ln cap="rnd" w="28575">
            <a:solidFill>
              <a:srgbClr val="6155A6"/>
            </a:solidFill>
            <a:prstDash val="solid"/>
            <a:headEnd type="triangle" len="med" w="lg"/>
            <a:tailEnd type="none" len="sm" w="sm"/>
          </a:ln>
        </p:spPr>
      </p:sp>
      <p:sp>
        <p:nvSpPr>
          <p:cNvPr name="AutoShape 51" id="51"/>
          <p:cNvSpPr/>
          <p:nvPr/>
        </p:nvSpPr>
        <p:spPr>
          <a:xfrm>
            <a:off x="7165856" y="4115066"/>
            <a:ext cx="1439230" cy="0"/>
          </a:xfrm>
          <a:prstGeom prst="line">
            <a:avLst/>
          </a:prstGeom>
          <a:ln cap="rnd" w="28575">
            <a:solidFill>
              <a:srgbClr val="6155A6"/>
            </a:solidFill>
            <a:prstDash val="solid"/>
            <a:headEnd type="triangle" len="med" w="lg"/>
            <a:tailEnd type="none" len="sm" w="sm"/>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1255"/>
            <a:ext cx="2386927" cy="805348"/>
          </a:xfrm>
          <a:custGeom>
            <a:avLst/>
            <a:gdLst/>
            <a:ahLst/>
            <a:cxnLst/>
            <a:rect r="r" b="b" t="t" l="l"/>
            <a:pathLst>
              <a:path h="805348" w="2386927">
                <a:moveTo>
                  <a:pt x="0" y="0"/>
                </a:moveTo>
                <a:lnTo>
                  <a:pt x="2386927" y="0"/>
                </a:lnTo>
                <a:lnTo>
                  <a:pt x="2386927" y="805349"/>
                </a:lnTo>
                <a:lnTo>
                  <a:pt x="0" y="805349"/>
                </a:lnTo>
                <a:lnTo>
                  <a:pt x="0" y="0"/>
                </a:lnTo>
                <a:close/>
              </a:path>
            </a:pathLst>
          </a:custGeom>
          <a:blipFill>
            <a:blip r:embed="rId3"/>
            <a:stretch>
              <a:fillRect l="0" t="0" r="0" b="0"/>
            </a:stretch>
          </a:blipFill>
        </p:spPr>
      </p:sp>
      <p:grpSp>
        <p:nvGrpSpPr>
          <p:cNvPr name="Group 3" id="3"/>
          <p:cNvGrpSpPr/>
          <p:nvPr/>
        </p:nvGrpSpPr>
        <p:grpSpPr>
          <a:xfrm rot="0">
            <a:off x="487680" y="6780105"/>
            <a:ext cx="2275837" cy="389468"/>
            <a:chOff x="0" y="0"/>
            <a:chExt cx="3034449" cy="519290"/>
          </a:xfrm>
        </p:grpSpPr>
        <p:sp>
          <p:nvSpPr>
            <p:cNvPr name="Freeform 4" id="4"/>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5" id="5"/>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6" id="6"/>
          <p:cNvGrpSpPr/>
          <p:nvPr/>
        </p:nvGrpSpPr>
        <p:grpSpPr>
          <a:xfrm rot="0">
            <a:off x="3332483" y="6780105"/>
            <a:ext cx="3088643" cy="389468"/>
            <a:chOff x="0" y="0"/>
            <a:chExt cx="4118191" cy="519290"/>
          </a:xfrm>
        </p:grpSpPr>
        <p:sp>
          <p:nvSpPr>
            <p:cNvPr name="Freeform 7" id="7"/>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8" id="8"/>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9" id="9"/>
          <p:cNvGrpSpPr/>
          <p:nvPr/>
        </p:nvGrpSpPr>
        <p:grpSpPr>
          <a:xfrm rot="0">
            <a:off x="6990083" y="6780105"/>
            <a:ext cx="2275837" cy="389468"/>
            <a:chOff x="0" y="0"/>
            <a:chExt cx="3034449" cy="519290"/>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1" id="11"/>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7</a:t>
              </a:r>
            </a:p>
          </p:txBody>
        </p:sp>
      </p:grpSp>
      <p:sp>
        <p:nvSpPr>
          <p:cNvPr name="Freeform 12" id="12"/>
          <p:cNvSpPr/>
          <p:nvPr/>
        </p:nvSpPr>
        <p:spPr>
          <a:xfrm flipH="false" flipV="false" rot="0">
            <a:off x="943448" y="1683536"/>
            <a:ext cx="7866705" cy="5047554"/>
          </a:xfrm>
          <a:custGeom>
            <a:avLst/>
            <a:gdLst/>
            <a:ahLst/>
            <a:cxnLst/>
            <a:rect r="r" b="b" t="t" l="l"/>
            <a:pathLst>
              <a:path h="5047554" w="7866705">
                <a:moveTo>
                  <a:pt x="0" y="0"/>
                </a:moveTo>
                <a:lnTo>
                  <a:pt x="7866704" y="0"/>
                </a:lnTo>
                <a:lnTo>
                  <a:pt x="7866704" y="5047554"/>
                </a:lnTo>
                <a:lnTo>
                  <a:pt x="0" y="5047554"/>
                </a:lnTo>
                <a:lnTo>
                  <a:pt x="0" y="0"/>
                </a:lnTo>
                <a:close/>
              </a:path>
            </a:pathLst>
          </a:custGeom>
          <a:blipFill>
            <a:blip r:embed="rId4"/>
            <a:stretch>
              <a:fillRect l="0" t="-1918" r="0" b="-1918"/>
            </a:stretch>
          </a:blipFill>
        </p:spPr>
      </p:sp>
      <p:sp>
        <p:nvSpPr>
          <p:cNvPr name="TextBox 13" id="13"/>
          <p:cNvSpPr txBox="true"/>
          <p:nvPr/>
        </p:nvSpPr>
        <p:spPr>
          <a:xfrm rot="0">
            <a:off x="943842" y="1043972"/>
            <a:ext cx="8648893" cy="590550"/>
          </a:xfrm>
          <a:prstGeom prst="rect">
            <a:avLst/>
          </a:prstGeom>
        </p:spPr>
        <p:txBody>
          <a:bodyPr anchor="t" rtlCol="false" tIns="0" lIns="0" bIns="0" rIns="0">
            <a:spAutoFit/>
          </a:bodyPr>
          <a:lstStyle/>
          <a:p>
            <a:pPr algn="l">
              <a:lnSpc>
                <a:spcPts val="4423"/>
              </a:lnSpc>
            </a:pPr>
            <a:r>
              <a:rPr lang="en-US" b="true" sz="3686">
                <a:solidFill>
                  <a:srgbClr val="5E17EB"/>
                </a:solidFill>
                <a:latin typeface="Times New Roman Bold"/>
                <a:ea typeface="Times New Roman Bold"/>
                <a:cs typeface="Times New Roman Bold"/>
                <a:sym typeface="Times New Roman Bold"/>
              </a:rPr>
              <a:t>Block Diagram of the proposed model</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110" y="1084259"/>
            <a:ext cx="8442970" cy="514350"/>
          </a:xfrm>
          <a:prstGeom prst="rect">
            <a:avLst/>
          </a:prstGeom>
        </p:spPr>
        <p:txBody>
          <a:bodyPr anchor="t" rtlCol="false" tIns="0" lIns="0" bIns="0" rIns="0">
            <a:spAutoFit/>
          </a:bodyPr>
          <a:lstStyle/>
          <a:p>
            <a:pPr algn="ctr">
              <a:lnSpc>
                <a:spcPts val="3880"/>
              </a:lnSpc>
            </a:pPr>
            <a:r>
              <a:rPr lang="en-US" b="true" sz="3233">
                <a:solidFill>
                  <a:srgbClr val="5E17EB"/>
                </a:solidFill>
                <a:latin typeface="Times New Roman Bold"/>
                <a:ea typeface="Times New Roman Bold"/>
                <a:cs typeface="Times New Roman Bold"/>
                <a:sym typeface="Times New Roman Bold"/>
              </a:rPr>
              <a:t>Modules Description </a:t>
            </a:r>
          </a:p>
        </p:txBody>
      </p:sp>
      <p:sp>
        <p:nvSpPr>
          <p:cNvPr name="Freeform 3" id="3"/>
          <p:cNvSpPr/>
          <p:nvPr/>
        </p:nvSpPr>
        <p:spPr>
          <a:xfrm flipH="false" flipV="false" rot="0">
            <a:off x="0" y="58369"/>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8</a:t>
              </a:r>
            </a:p>
          </p:txBody>
        </p:sp>
      </p:grpSp>
      <p:sp>
        <p:nvSpPr>
          <p:cNvPr name="TextBox 13" id="13"/>
          <p:cNvSpPr txBox="true"/>
          <p:nvPr/>
        </p:nvSpPr>
        <p:spPr>
          <a:xfrm rot="0">
            <a:off x="579110" y="1781051"/>
            <a:ext cx="8686810" cy="5514975"/>
          </a:xfrm>
          <a:prstGeom prst="rect">
            <a:avLst/>
          </a:prstGeom>
        </p:spPr>
        <p:txBody>
          <a:bodyPr anchor="t" rtlCol="false" tIns="0" lIns="0" bIns="0" rIns="0">
            <a:spAutoFit/>
          </a:bodyPr>
          <a:lstStyle/>
          <a:p>
            <a:pPr algn="just">
              <a:lnSpc>
                <a:spcPts val="3335"/>
              </a:lnSpc>
            </a:pPr>
            <a:r>
              <a:rPr lang="en-US" b="true" sz="2779">
                <a:solidFill>
                  <a:srgbClr val="000000"/>
                </a:solidFill>
                <a:latin typeface="Calibri (MS) Bold"/>
                <a:ea typeface="Calibri (MS) Bold"/>
                <a:cs typeface="Calibri (MS) Bold"/>
                <a:sym typeface="Calibri (MS) Bold"/>
              </a:rPr>
              <a:t>1. EEG Data Acquisition</a:t>
            </a:r>
          </a:p>
          <a:p>
            <a:pPr algn="just" marL="600194" indent="-300097" lvl="1">
              <a:lnSpc>
                <a:spcPts val="3335"/>
              </a:lnSpc>
              <a:buFont typeface="Arial"/>
              <a:buChar char="•"/>
            </a:pPr>
            <a:r>
              <a:rPr lang="en-US" sz="2779">
                <a:solidFill>
                  <a:srgbClr val="000000"/>
                </a:solidFill>
                <a:latin typeface="Calibri (MS)"/>
                <a:ea typeface="Calibri (MS)"/>
                <a:cs typeface="Calibri (MS)"/>
                <a:sym typeface="Calibri (MS)"/>
              </a:rPr>
              <a:t>Loads EEG recordings from the CHB-MIT dataset and prepares them as continuous signals.</a:t>
            </a:r>
          </a:p>
          <a:p>
            <a:pPr algn="just">
              <a:lnSpc>
                <a:spcPts val="3335"/>
              </a:lnSpc>
            </a:pPr>
          </a:p>
          <a:p>
            <a:pPr algn="just">
              <a:lnSpc>
                <a:spcPts val="3335"/>
              </a:lnSpc>
            </a:pPr>
            <a:r>
              <a:rPr lang="en-US" b="true" sz="2779">
                <a:solidFill>
                  <a:srgbClr val="000000"/>
                </a:solidFill>
                <a:latin typeface="Calibri (MS) Bold"/>
                <a:ea typeface="Calibri (MS) Bold"/>
                <a:cs typeface="Calibri (MS) Bold"/>
                <a:sym typeface="Calibri (MS) Bold"/>
              </a:rPr>
              <a:t>2. Preprocessing</a:t>
            </a:r>
          </a:p>
          <a:p>
            <a:pPr algn="just" marL="600194" indent="-300097" lvl="1">
              <a:lnSpc>
                <a:spcPts val="3335"/>
              </a:lnSpc>
              <a:buFont typeface="Arial"/>
              <a:buChar char="•"/>
            </a:pPr>
            <a:r>
              <a:rPr lang="en-US" sz="2779">
                <a:solidFill>
                  <a:srgbClr val="000000"/>
                </a:solidFill>
                <a:latin typeface="Calibri (MS)"/>
                <a:ea typeface="Calibri (MS)"/>
                <a:cs typeface="Calibri (MS)"/>
                <a:sym typeface="Calibri (MS)"/>
              </a:rPr>
              <a:t>Removes noise and artifacts from EEG signals using filtering techniques.</a:t>
            </a:r>
          </a:p>
          <a:p>
            <a:pPr algn="just">
              <a:lnSpc>
                <a:spcPts val="3335"/>
              </a:lnSpc>
            </a:pPr>
          </a:p>
          <a:p>
            <a:pPr algn="just">
              <a:lnSpc>
                <a:spcPts val="3335"/>
              </a:lnSpc>
            </a:pPr>
            <a:r>
              <a:rPr lang="en-US" b="true" sz="2779">
                <a:solidFill>
                  <a:srgbClr val="000000"/>
                </a:solidFill>
                <a:latin typeface="Calibri (MS) Bold"/>
                <a:ea typeface="Calibri (MS) Bold"/>
                <a:cs typeface="Calibri (MS) Bold"/>
                <a:sym typeface="Calibri (MS) Bold"/>
              </a:rPr>
              <a:t>3. Time Window Segmentation</a:t>
            </a:r>
          </a:p>
          <a:p>
            <a:pPr algn="just" marL="600194" indent="-300097" lvl="1">
              <a:lnSpc>
                <a:spcPts val="3335"/>
              </a:lnSpc>
              <a:buFont typeface="Arial"/>
              <a:buChar char="•"/>
            </a:pPr>
            <a:r>
              <a:rPr lang="en-US" sz="2779">
                <a:solidFill>
                  <a:srgbClr val="000000"/>
                </a:solidFill>
                <a:latin typeface="Calibri (MS)"/>
                <a:ea typeface="Calibri (MS)"/>
                <a:cs typeface="Calibri (MS)"/>
                <a:sym typeface="Calibri (MS)"/>
              </a:rPr>
              <a:t>Divides EEG signals into small time windows for real-time analysis.</a:t>
            </a:r>
          </a:p>
          <a:p>
            <a:pPr algn="just">
              <a:lnSpc>
                <a:spcPts val="3335"/>
              </a:lnSpc>
            </a:pPr>
          </a:p>
          <a:p>
            <a:pPr algn="just">
              <a:lnSpc>
                <a:spcPts val="3335"/>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110" y="1085726"/>
            <a:ext cx="8442970" cy="514350"/>
          </a:xfrm>
          <a:prstGeom prst="rect">
            <a:avLst/>
          </a:prstGeom>
        </p:spPr>
        <p:txBody>
          <a:bodyPr anchor="t" rtlCol="false" tIns="0" lIns="0" bIns="0" rIns="0">
            <a:spAutoFit/>
          </a:bodyPr>
          <a:lstStyle/>
          <a:p>
            <a:pPr algn="ctr">
              <a:lnSpc>
                <a:spcPts val="3880"/>
              </a:lnSpc>
            </a:pPr>
            <a:r>
              <a:rPr lang="en-US" b="true" sz="3233">
                <a:solidFill>
                  <a:srgbClr val="5E17EB"/>
                </a:solidFill>
                <a:latin typeface="Times New Roman Bold"/>
                <a:ea typeface="Times New Roman Bold"/>
                <a:cs typeface="Times New Roman Bold"/>
                <a:sym typeface="Times New Roman Bold"/>
              </a:rPr>
              <a:t>Modules Description </a:t>
            </a:r>
          </a:p>
        </p:txBody>
      </p:sp>
      <p:sp>
        <p:nvSpPr>
          <p:cNvPr name="Freeform 3" id="3"/>
          <p:cNvSpPr/>
          <p:nvPr/>
        </p:nvSpPr>
        <p:spPr>
          <a:xfrm flipH="false" flipV="false" rot="0">
            <a:off x="0" y="58369"/>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8</a:t>
              </a:r>
            </a:p>
          </p:txBody>
        </p:sp>
      </p:grpSp>
      <p:sp>
        <p:nvSpPr>
          <p:cNvPr name="TextBox 13" id="13"/>
          <p:cNvSpPr txBox="true"/>
          <p:nvPr/>
        </p:nvSpPr>
        <p:spPr>
          <a:xfrm rot="0">
            <a:off x="731520" y="2035702"/>
            <a:ext cx="8534400" cy="5514975"/>
          </a:xfrm>
          <a:prstGeom prst="rect">
            <a:avLst/>
          </a:prstGeom>
        </p:spPr>
        <p:txBody>
          <a:bodyPr anchor="t" rtlCol="false" tIns="0" lIns="0" bIns="0" rIns="0">
            <a:spAutoFit/>
          </a:bodyPr>
          <a:lstStyle/>
          <a:p>
            <a:pPr algn="just">
              <a:lnSpc>
                <a:spcPts val="3335"/>
              </a:lnSpc>
            </a:pPr>
            <a:r>
              <a:rPr lang="en-US" sz="2779" b="true">
                <a:solidFill>
                  <a:srgbClr val="000000"/>
                </a:solidFill>
                <a:latin typeface="Calibri (MS) Bold"/>
                <a:ea typeface="Calibri (MS) Bold"/>
                <a:cs typeface="Calibri (MS) Bold"/>
                <a:sym typeface="Calibri (MS) Bold"/>
              </a:rPr>
              <a:t>4. Feature Extraction (CNN)</a:t>
            </a:r>
          </a:p>
          <a:p>
            <a:pPr algn="just" marL="600194" indent="-300097" lvl="1">
              <a:lnSpc>
                <a:spcPts val="3335"/>
              </a:lnSpc>
              <a:buFont typeface="Arial"/>
              <a:buChar char="•"/>
            </a:pPr>
            <a:r>
              <a:rPr lang="en-US" sz="2779">
                <a:solidFill>
                  <a:srgbClr val="000000"/>
                </a:solidFill>
                <a:latin typeface="Calibri (MS)"/>
                <a:ea typeface="Calibri (MS)"/>
                <a:cs typeface="Calibri (MS)"/>
                <a:sym typeface="Calibri (MS)"/>
              </a:rPr>
              <a:t>CNN automatically learns important spatial and frequency patterns from EEG data.</a:t>
            </a:r>
          </a:p>
          <a:p>
            <a:pPr algn="just">
              <a:lnSpc>
                <a:spcPts val="3335"/>
              </a:lnSpc>
            </a:pPr>
          </a:p>
          <a:p>
            <a:pPr algn="just">
              <a:lnSpc>
                <a:spcPts val="3335"/>
              </a:lnSpc>
            </a:pPr>
            <a:r>
              <a:rPr lang="en-US" b="true" sz="2779">
                <a:solidFill>
                  <a:srgbClr val="000000"/>
                </a:solidFill>
                <a:latin typeface="Calibri (MS) Bold"/>
                <a:ea typeface="Calibri (MS) Bold"/>
                <a:cs typeface="Calibri (MS) Bold"/>
                <a:sym typeface="Calibri (MS) Bold"/>
              </a:rPr>
              <a:t>5</a:t>
            </a:r>
            <a:r>
              <a:rPr lang="en-US" b="true" sz="2779">
                <a:solidFill>
                  <a:srgbClr val="000000"/>
                </a:solidFill>
                <a:latin typeface="Calibri (MS) Bold"/>
                <a:ea typeface="Calibri (MS) Bold"/>
                <a:cs typeface="Calibri (MS) Bold"/>
                <a:sym typeface="Calibri (MS) Bold"/>
              </a:rPr>
              <a:t>. Temporal Analysis (LSTM)</a:t>
            </a:r>
          </a:p>
          <a:p>
            <a:pPr algn="just" marL="600194" indent="-300097" lvl="1">
              <a:lnSpc>
                <a:spcPts val="3335"/>
              </a:lnSpc>
              <a:buFont typeface="Arial"/>
              <a:buChar char="•"/>
            </a:pPr>
            <a:r>
              <a:rPr lang="en-US" sz="2779">
                <a:solidFill>
                  <a:srgbClr val="000000"/>
                </a:solidFill>
                <a:latin typeface="Calibri (MS)"/>
                <a:ea typeface="Calibri (MS)"/>
                <a:cs typeface="Calibri (MS)"/>
                <a:sym typeface="Calibri (MS)"/>
              </a:rPr>
              <a:t>LSTM captures time-dependent changes in EEG signals to identify pre-seizure activity.</a:t>
            </a:r>
          </a:p>
          <a:p>
            <a:pPr algn="just">
              <a:lnSpc>
                <a:spcPts val="3335"/>
              </a:lnSpc>
            </a:pPr>
          </a:p>
          <a:p>
            <a:pPr algn="just">
              <a:lnSpc>
                <a:spcPts val="3335"/>
              </a:lnSpc>
            </a:pPr>
            <a:r>
              <a:rPr lang="en-US" b="true" sz="2779">
                <a:solidFill>
                  <a:srgbClr val="000000"/>
                </a:solidFill>
                <a:latin typeface="Calibri (MS) Bold"/>
                <a:ea typeface="Calibri (MS) Bold"/>
                <a:cs typeface="Calibri (MS) Bold"/>
                <a:sym typeface="Calibri (MS) Bold"/>
              </a:rPr>
              <a:t>6. Seizure Prediction</a:t>
            </a:r>
          </a:p>
          <a:p>
            <a:pPr algn="just" marL="600194" indent="-300097" lvl="1">
              <a:lnSpc>
                <a:spcPts val="3335"/>
              </a:lnSpc>
              <a:buFont typeface="Arial"/>
              <a:buChar char="•"/>
            </a:pPr>
            <a:r>
              <a:rPr lang="en-US" sz="2779">
                <a:solidFill>
                  <a:srgbClr val="000000"/>
                </a:solidFill>
                <a:latin typeface="Calibri (MS)"/>
                <a:ea typeface="Calibri (MS)"/>
                <a:cs typeface="Calibri (MS)"/>
                <a:sym typeface="Calibri (MS)"/>
              </a:rPr>
              <a:t>Classifies EEG windows as normal or pre-seizure state.</a:t>
            </a:r>
          </a:p>
          <a:p>
            <a:pPr algn="just">
              <a:lnSpc>
                <a:spcPts val="3335"/>
              </a:lnSpc>
            </a:pPr>
          </a:p>
          <a:p>
            <a:pPr algn="just">
              <a:lnSpc>
                <a:spcPts val="3335"/>
              </a:lnSpc>
            </a:pPr>
          </a:p>
          <a:p>
            <a:pPr algn="just">
              <a:lnSpc>
                <a:spcPts val="3335"/>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611347" y="188595"/>
            <a:ext cx="6994469" cy="542925"/>
          </a:xfrm>
          <a:prstGeom prst="rect">
            <a:avLst/>
          </a:prstGeom>
        </p:spPr>
        <p:txBody>
          <a:bodyPr anchor="t" rtlCol="false" tIns="0" lIns="0" bIns="0" rIns="0">
            <a:spAutoFit/>
          </a:bodyPr>
          <a:lstStyle/>
          <a:p>
            <a:pPr algn="ctr">
              <a:lnSpc>
                <a:spcPts val="4183"/>
              </a:lnSpc>
            </a:pPr>
            <a:r>
              <a:rPr lang="en-US" b="true" sz="3486">
                <a:solidFill>
                  <a:srgbClr val="5E17EB"/>
                </a:solidFill>
                <a:latin typeface="Times New Roman Bold"/>
                <a:ea typeface="Times New Roman Bold"/>
                <a:cs typeface="Times New Roman Bold"/>
                <a:sym typeface="Times New Roman Bold"/>
              </a:rPr>
              <a:t>Intermediate Results and Discussion</a:t>
            </a:r>
          </a:p>
        </p:txBody>
      </p:sp>
      <p:sp>
        <p:nvSpPr>
          <p:cNvPr name="Freeform 3" id="3"/>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9</a:t>
              </a:r>
            </a:p>
          </p:txBody>
        </p:sp>
      </p:grpSp>
      <p:sp>
        <p:nvSpPr>
          <p:cNvPr name="TextBox 13" id="13"/>
          <p:cNvSpPr txBox="true"/>
          <p:nvPr/>
        </p:nvSpPr>
        <p:spPr>
          <a:xfrm rot="0">
            <a:off x="274224" y="857250"/>
            <a:ext cx="4884570" cy="5962650"/>
          </a:xfrm>
          <a:prstGeom prst="rect">
            <a:avLst/>
          </a:prstGeom>
        </p:spPr>
        <p:txBody>
          <a:bodyPr anchor="t" rtlCol="false" tIns="0" lIns="0" bIns="0" rIns="0">
            <a:spAutoFit/>
          </a:bodyPr>
          <a:lstStyle/>
          <a:p>
            <a:pPr algn="just">
              <a:lnSpc>
                <a:spcPts val="3215"/>
              </a:lnSpc>
              <a:spcBef>
                <a:spcPct val="0"/>
              </a:spcBef>
            </a:pPr>
            <a:r>
              <a:rPr lang="en-US" b="true" sz="2679">
                <a:solidFill>
                  <a:srgbClr val="000000"/>
                </a:solidFill>
                <a:latin typeface="Calibri (MS) Bold"/>
                <a:ea typeface="Calibri (MS) Bold"/>
                <a:cs typeface="Calibri (MS) Bold"/>
                <a:sym typeface="Calibri (MS) Bold"/>
              </a:rPr>
              <a:t>1) M</a:t>
            </a:r>
            <a:r>
              <a:rPr lang="en-US" b="true" sz="2679">
                <a:solidFill>
                  <a:srgbClr val="000000"/>
                </a:solidFill>
                <a:latin typeface="Calibri (MS) Bold"/>
                <a:ea typeface="Calibri (MS) Bold"/>
                <a:cs typeface="Calibri (MS) Bold"/>
                <a:sym typeface="Calibri (MS) Bold"/>
              </a:rPr>
              <a:t>odel Training Behavior</a:t>
            </a:r>
          </a:p>
          <a:p>
            <a:pPr algn="just">
              <a:lnSpc>
                <a:spcPts val="3215"/>
              </a:lnSpc>
              <a:spcBef>
                <a:spcPct val="0"/>
              </a:spcBef>
            </a:pPr>
          </a:p>
          <a:p>
            <a:pPr algn="just">
              <a:lnSpc>
                <a:spcPts val="2855"/>
              </a:lnSpc>
              <a:spcBef>
                <a:spcPct val="0"/>
              </a:spcBef>
            </a:pPr>
            <a:r>
              <a:rPr lang="en-US" sz="2379">
                <a:solidFill>
                  <a:srgbClr val="000000"/>
                </a:solidFill>
                <a:latin typeface="Calibri (MS)"/>
                <a:ea typeface="Calibri (MS)"/>
                <a:cs typeface="Calibri (MS)"/>
                <a:sym typeface="Calibri (MS)"/>
              </a:rPr>
              <a:t>The training loss curve shows a steady decrease across epochs, indicating effective learning and convergence of the CNN–LSTM model.</a:t>
            </a:r>
          </a:p>
          <a:p>
            <a:pPr algn="just">
              <a:lnSpc>
                <a:spcPts val="2855"/>
              </a:lnSpc>
              <a:spcBef>
                <a:spcPct val="0"/>
              </a:spcBef>
            </a:pPr>
          </a:p>
          <a:p>
            <a:pPr algn="just">
              <a:lnSpc>
                <a:spcPts val="2855"/>
              </a:lnSpc>
              <a:spcBef>
                <a:spcPct val="0"/>
              </a:spcBef>
            </a:pPr>
            <a:r>
              <a:rPr lang="en-US" sz="2379">
                <a:solidFill>
                  <a:srgbClr val="000000"/>
                </a:solidFill>
                <a:latin typeface="Calibri (MS)"/>
                <a:ea typeface="Calibri (MS)"/>
                <a:cs typeface="Calibri (MS)"/>
                <a:sym typeface="Calibri (MS)"/>
              </a:rPr>
              <a:t>Minor fluctuations in later epochs suggest that the model continues refining features without severe overfitting.</a:t>
            </a:r>
          </a:p>
          <a:p>
            <a:pPr algn="just">
              <a:lnSpc>
                <a:spcPts val="2855"/>
              </a:lnSpc>
              <a:spcBef>
                <a:spcPct val="0"/>
              </a:spcBef>
            </a:pPr>
          </a:p>
          <a:p>
            <a:pPr algn="just">
              <a:lnSpc>
                <a:spcPts val="2855"/>
              </a:lnSpc>
              <a:spcBef>
                <a:spcPct val="0"/>
              </a:spcBef>
            </a:pPr>
            <a:r>
              <a:rPr lang="en-US" sz="2379">
                <a:solidFill>
                  <a:srgbClr val="000000"/>
                </a:solidFill>
                <a:latin typeface="Calibri (MS)"/>
                <a:ea typeface="Calibri (MS)"/>
                <a:cs typeface="Calibri (MS)"/>
                <a:sym typeface="Calibri (MS)"/>
              </a:rPr>
              <a:t>Overall, the loss trend confirms that the model successfully captures meaningful EEG patterns for seizure detection.</a:t>
            </a:r>
          </a:p>
          <a:p>
            <a:pPr algn="just">
              <a:lnSpc>
                <a:spcPts val="3215"/>
              </a:lnSpc>
              <a:spcBef>
                <a:spcPct val="0"/>
              </a:spcBef>
            </a:pPr>
          </a:p>
        </p:txBody>
      </p:sp>
      <p:sp>
        <p:nvSpPr>
          <p:cNvPr name="Freeform 14" id="14"/>
          <p:cNvSpPr/>
          <p:nvPr/>
        </p:nvSpPr>
        <p:spPr>
          <a:xfrm flipH="false" flipV="false" rot="0">
            <a:off x="5300126" y="2482440"/>
            <a:ext cx="4453474" cy="3730938"/>
          </a:xfrm>
          <a:custGeom>
            <a:avLst/>
            <a:gdLst/>
            <a:ahLst/>
            <a:cxnLst/>
            <a:rect r="r" b="b" t="t" l="l"/>
            <a:pathLst>
              <a:path h="3730938" w="4453474">
                <a:moveTo>
                  <a:pt x="0" y="0"/>
                </a:moveTo>
                <a:lnTo>
                  <a:pt x="4453474" y="0"/>
                </a:lnTo>
                <a:lnTo>
                  <a:pt x="4453474" y="3730938"/>
                </a:lnTo>
                <a:lnTo>
                  <a:pt x="0" y="3730938"/>
                </a:lnTo>
                <a:lnTo>
                  <a:pt x="0" y="0"/>
                </a:lnTo>
                <a:close/>
              </a:path>
            </a:pathLst>
          </a:custGeom>
          <a:blipFill>
            <a:blip r:embed="rId4"/>
            <a:stretch>
              <a:fillRect l="-265" t="0" r="-265"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7680" y="1062562"/>
            <a:ext cx="8595389" cy="542925"/>
          </a:xfrm>
          <a:prstGeom prst="rect">
            <a:avLst/>
          </a:prstGeom>
        </p:spPr>
        <p:txBody>
          <a:bodyPr anchor="t" rtlCol="false" tIns="0" lIns="0" bIns="0" rIns="0">
            <a:spAutoFit/>
          </a:bodyPr>
          <a:lstStyle/>
          <a:p>
            <a:pPr algn="ctr">
              <a:lnSpc>
                <a:spcPts val="4183"/>
              </a:lnSpc>
            </a:pPr>
            <a:r>
              <a:rPr lang="en-US" b="true" sz="3486">
                <a:solidFill>
                  <a:srgbClr val="5E17EB"/>
                </a:solidFill>
                <a:latin typeface="Times New Roman Bold"/>
                <a:ea typeface="Times New Roman Bold"/>
                <a:cs typeface="Times New Roman Bold"/>
                <a:sym typeface="Times New Roman Bold"/>
              </a:rPr>
              <a:t>Intermediate Results and Discussion</a:t>
            </a:r>
          </a:p>
        </p:txBody>
      </p:sp>
      <p:sp>
        <p:nvSpPr>
          <p:cNvPr name="Freeform 3" id="3"/>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9</a:t>
              </a:r>
            </a:p>
          </p:txBody>
        </p:sp>
      </p:grpSp>
      <p:sp>
        <p:nvSpPr>
          <p:cNvPr name="TextBox 13" id="13"/>
          <p:cNvSpPr txBox="true"/>
          <p:nvPr/>
        </p:nvSpPr>
        <p:spPr>
          <a:xfrm rot="0">
            <a:off x="487680" y="1697246"/>
            <a:ext cx="9009254" cy="4857750"/>
          </a:xfrm>
          <a:prstGeom prst="rect">
            <a:avLst/>
          </a:prstGeom>
        </p:spPr>
        <p:txBody>
          <a:bodyPr anchor="t" rtlCol="false" tIns="0" lIns="0" bIns="0" rIns="0">
            <a:spAutoFit/>
          </a:bodyPr>
          <a:lstStyle/>
          <a:p>
            <a:pPr algn="just">
              <a:lnSpc>
                <a:spcPts val="3215"/>
              </a:lnSpc>
              <a:spcBef>
                <a:spcPct val="0"/>
              </a:spcBef>
            </a:pPr>
            <a:r>
              <a:rPr lang="en-US" b="true" sz="2679">
                <a:solidFill>
                  <a:srgbClr val="000000"/>
                </a:solidFill>
                <a:latin typeface="Calibri (MS) Bold"/>
                <a:ea typeface="Calibri (MS) Bold"/>
                <a:cs typeface="Calibri (MS) Bold"/>
                <a:sym typeface="Calibri (MS) Bold"/>
              </a:rPr>
              <a:t>2) C</a:t>
            </a:r>
            <a:r>
              <a:rPr lang="en-US" b="true" sz="2679">
                <a:solidFill>
                  <a:srgbClr val="000000"/>
                </a:solidFill>
                <a:latin typeface="Calibri (MS) Bold"/>
                <a:ea typeface="Calibri (MS) Bold"/>
                <a:cs typeface="Calibri (MS) Bold"/>
                <a:sym typeface="Calibri (MS) Bold"/>
              </a:rPr>
              <a:t>lassification Performance (Confusion Matrix)</a:t>
            </a:r>
          </a:p>
          <a:p>
            <a:pPr algn="just">
              <a:lnSpc>
                <a:spcPts val="3215"/>
              </a:lnSpc>
              <a:spcBef>
                <a:spcPct val="0"/>
              </a:spcBef>
            </a:pPr>
          </a:p>
          <a:p>
            <a:pPr algn="just">
              <a:lnSpc>
                <a:spcPts val="3215"/>
              </a:lnSpc>
            </a:pPr>
            <a:r>
              <a:rPr lang="en-US" sz="2679">
                <a:solidFill>
                  <a:srgbClr val="000000"/>
                </a:solidFill>
                <a:latin typeface="Calibri (MS)"/>
                <a:ea typeface="Calibri (MS)"/>
                <a:cs typeface="Calibri (MS)"/>
                <a:sym typeface="Calibri (MS)"/>
              </a:rPr>
              <a:t>The confusion matrix demonstrates strong classification capability:</a:t>
            </a:r>
          </a:p>
          <a:p>
            <a:pPr algn="just" marL="578605" indent="-289302" lvl="1">
              <a:lnSpc>
                <a:spcPts val="3215"/>
              </a:lnSpc>
              <a:buFont typeface="Arial"/>
              <a:buChar char="•"/>
            </a:pPr>
            <a:r>
              <a:rPr lang="en-US" sz="2679">
                <a:solidFill>
                  <a:srgbClr val="000000"/>
                </a:solidFill>
                <a:latin typeface="Calibri (MS)"/>
                <a:ea typeface="Calibri (MS)"/>
                <a:cs typeface="Calibri (MS)"/>
                <a:sym typeface="Calibri (MS)"/>
              </a:rPr>
              <a:t>True Negatives (Non-seizure correctly classified): 5414</a:t>
            </a:r>
          </a:p>
          <a:p>
            <a:pPr algn="just" marL="578605" indent="-289302" lvl="1">
              <a:lnSpc>
                <a:spcPts val="3215"/>
              </a:lnSpc>
              <a:buFont typeface="Arial"/>
              <a:buChar char="•"/>
            </a:pPr>
            <a:r>
              <a:rPr lang="en-US" sz="2679">
                <a:solidFill>
                  <a:srgbClr val="000000"/>
                </a:solidFill>
                <a:latin typeface="Calibri (MS)"/>
                <a:ea typeface="Calibri (MS)"/>
                <a:cs typeface="Calibri (MS)"/>
                <a:sym typeface="Calibri (MS)"/>
              </a:rPr>
              <a:t>True Positives (Seizure correctly classified): 316</a:t>
            </a:r>
          </a:p>
          <a:p>
            <a:pPr algn="just" marL="578605" indent="-289302" lvl="1">
              <a:lnSpc>
                <a:spcPts val="3215"/>
              </a:lnSpc>
              <a:buFont typeface="Arial"/>
              <a:buChar char="•"/>
            </a:pPr>
            <a:r>
              <a:rPr lang="en-US" sz="2679">
                <a:solidFill>
                  <a:srgbClr val="000000"/>
                </a:solidFill>
                <a:latin typeface="Calibri (MS)"/>
                <a:ea typeface="Calibri (MS)"/>
                <a:cs typeface="Calibri (MS)"/>
                <a:sym typeface="Calibri (MS)"/>
              </a:rPr>
              <a:t>False Positives: 16</a:t>
            </a:r>
          </a:p>
          <a:p>
            <a:pPr algn="just" marL="578605" indent="-289302" lvl="1">
              <a:lnSpc>
                <a:spcPts val="3215"/>
              </a:lnSpc>
              <a:buFont typeface="Arial"/>
              <a:buChar char="•"/>
            </a:pPr>
            <a:r>
              <a:rPr lang="en-US" sz="2679">
                <a:solidFill>
                  <a:srgbClr val="000000"/>
                </a:solidFill>
                <a:latin typeface="Calibri (MS)"/>
                <a:ea typeface="Calibri (MS)"/>
                <a:cs typeface="Calibri (MS)"/>
                <a:sym typeface="Calibri (MS)"/>
              </a:rPr>
              <a:t>False Negatives: 35</a:t>
            </a:r>
          </a:p>
          <a:p>
            <a:pPr algn="just">
              <a:lnSpc>
                <a:spcPts val="3215"/>
              </a:lnSpc>
            </a:pPr>
            <a:r>
              <a:rPr lang="en-US" sz="2679">
                <a:solidFill>
                  <a:srgbClr val="000000"/>
                </a:solidFill>
                <a:latin typeface="Calibri (MS)"/>
                <a:ea typeface="Calibri (MS)"/>
                <a:cs typeface="Calibri (MS)"/>
                <a:sym typeface="Calibri (MS)"/>
              </a:rPr>
              <a:t>The model achieves a high detection rate for seizures while maintaining very low false alarm rates.</a:t>
            </a:r>
          </a:p>
          <a:p>
            <a:pPr algn="just">
              <a:lnSpc>
                <a:spcPts val="3215"/>
              </a:lnSpc>
            </a:pPr>
            <a:r>
              <a:rPr lang="en-US" sz="2679">
                <a:solidFill>
                  <a:srgbClr val="000000"/>
                </a:solidFill>
                <a:latin typeface="Calibri (MS)"/>
                <a:ea typeface="Calibri (MS)"/>
                <a:cs typeface="Calibri (MS)"/>
                <a:sym typeface="Calibri (MS)"/>
              </a:rPr>
              <a:t>This indicates a good balance between sensitivity and specificity, which is crucial for clinical applications.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31520" y="997366"/>
            <a:ext cx="8595389" cy="542925"/>
          </a:xfrm>
          <a:prstGeom prst="rect">
            <a:avLst/>
          </a:prstGeom>
        </p:spPr>
        <p:txBody>
          <a:bodyPr anchor="t" rtlCol="false" tIns="0" lIns="0" bIns="0" rIns="0">
            <a:spAutoFit/>
          </a:bodyPr>
          <a:lstStyle/>
          <a:p>
            <a:pPr algn="ctr">
              <a:lnSpc>
                <a:spcPts val="4183"/>
              </a:lnSpc>
            </a:pPr>
            <a:r>
              <a:rPr lang="en-US" b="true" sz="3486">
                <a:solidFill>
                  <a:srgbClr val="5E17EB"/>
                </a:solidFill>
                <a:latin typeface="Times New Roman Bold"/>
                <a:ea typeface="Times New Roman Bold"/>
                <a:cs typeface="Times New Roman Bold"/>
                <a:sym typeface="Times New Roman Bold"/>
              </a:rPr>
              <a:t>Intermediate Results and Discussion</a:t>
            </a:r>
          </a:p>
        </p:txBody>
      </p:sp>
      <p:sp>
        <p:nvSpPr>
          <p:cNvPr name="Freeform 3" id="3"/>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9</a:t>
              </a:r>
            </a:p>
          </p:txBody>
        </p:sp>
      </p:grpSp>
      <p:sp>
        <p:nvSpPr>
          <p:cNvPr name="TextBox 13" id="13"/>
          <p:cNvSpPr txBox="true"/>
          <p:nvPr/>
        </p:nvSpPr>
        <p:spPr>
          <a:xfrm rot="0">
            <a:off x="487680" y="1483141"/>
            <a:ext cx="4721744" cy="5296963"/>
          </a:xfrm>
          <a:prstGeom prst="rect">
            <a:avLst/>
          </a:prstGeom>
        </p:spPr>
        <p:txBody>
          <a:bodyPr anchor="t" rtlCol="false" tIns="0" lIns="0" bIns="0" rIns="0">
            <a:spAutoFit/>
          </a:bodyPr>
          <a:lstStyle/>
          <a:p>
            <a:pPr algn="just">
              <a:lnSpc>
                <a:spcPts val="2808"/>
              </a:lnSpc>
              <a:spcBef>
                <a:spcPct val="0"/>
              </a:spcBef>
            </a:pPr>
            <a:r>
              <a:rPr lang="en-US" b="true" sz="2340">
                <a:solidFill>
                  <a:srgbClr val="000000"/>
                </a:solidFill>
                <a:latin typeface="Calibri (MS) Bold"/>
                <a:ea typeface="Calibri (MS) Bold"/>
                <a:cs typeface="Calibri (MS) Bold"/>
                <a:sym typeface="Calibri (MS) Bold"/>
              </a:rPr>
              <a:t>3) Precision–Reca</a:t>
            </a:r>
            <a:r>
              <a:rPr lang="en-US" b="true" sz="2340">
                <a:solidFill>
                  <a:srgbClr val="000000"/>
                </a:solidFill>
                <a:latin typeface="Calibri (MS) Bold"/>
                <a:ea typeface="Calibri (MS) Bold"/>
                <a:cs typeface="Calibri (MS) Bold"/>
                <a:sym typeface="Calibri (MS) Bold"/>
              </a:rPr>
              <a:t>ll Analysis</a:t>
            </a:r>
          </a:p>
          <a:p>
            <a:pPr algn="just">
              <a:lnSpc>
                <a:spcPts val="2808"/>
              </a:lnSpc>
              <a:spcBef>
                <a:spcPct val="0"/>
              </a:spcBef>
            </a:pPr>
          </a:p>
          <a:p>
            <a:pPr algn="just">
              <a:lnSpc>
                <a:spcPts val="2808"/>
              </a:lnSpc>
              <a:spcBef>
                <a:spcPct val="0"/>
              </a:spcBef>
            </a:pPr>
            <a:r>
              <a:rPr lang="en-US" sz="2340">
                <a:solidFill>
                  <a:srgbClr val="000000"/>
                </a:solidFill>
                <a:latin typeface="Calibri (MS)"/>
                <a:ea typeface="Calibri (MS)"/>
                <a:cs typeface="Calibri (MS)"/>
                <a:sym typeface="Calibri (MS)"/>
              </a:rPr>
              <a:t>The Precision–Recall curve shows consistently high precision across most recall values.</a:t>
            </a:r>
          </a:p>
          <a:p>
            <a:pPr algn="just">
              <a:lnSpc>
                <a:spcPts val="2808"/>
              </a:lnSpc>
              <a:spcBef>
                <a:spcPct val="0"/>
              </a:spcBef>
            </a:pPr>
          </a:p>
          <a:p>
            <a:pPr algn="just">
              <a:lnSpc>
                <a:spcPts val="2808"/>
              </a:lnSpc>
              <a:spcBef>
                <a:spcPct val="0"/>
              </a:spcBef>
            </a:pPr>
            <a:r>
              <a:rPr lang="en-US" sz="2340">
                <a:solidFill>
                  <a:srgbClr val="000000"/>
                </a:solidFill>
                <a:latin typeface="Calibri (MS)"/>
                <a:ea typeface="Calibri (MS)"/>
                <a:cs typeface="Calibri (MS)"/>
                <a:sym typeface="Calibri (MS)"/>
              </a:rPr>
              <a:t>This indicates that the model maintains reliability even in the presence of class imbalance between seizure and non-seizure samples.</a:t>
            </a:r>
          </a:p>
          <a:p>
            <a:pPr algn="just">
              <a:lnSpc>
                <a:spcPts val="2808"/>
              </a:lnSpc>
              <a:spcBef>
                <a:spcPct val="0"/>
              </a:spcBef>
            </a:pPr>
          </a:p>
          <a:p>
            <a:pPr algn="just">
              <a:lnSpc>
                <a:spcPts val="2808"/>
              </a:lnSpc>
              <a:spcBef>
                <a:spcPct val="0"/>
              </a:spcBef>
            </a:pPr>
            <a:r>
              <a:rPr lang="en-US" sz="2340">
                <a:solidFill>
                  <a:srgbClr val="000000"/>
                </a:solidFill>
                <a:latin typeface="Calibri (MS)"/>
                <a:ea typeface="Calibri (MS)"/>
                <a:cs typeface="Calibri (MS)"/>
                <a:sym typeface="Calibri (MS)"/>
              </a:rPr>
              <a:t>The curve confirms that the model performs well in detecting rare seizure events without significantly increasing false positives.</a:t>
            </a:r>
          </a:p>
        </p:txBody>
      </p:sp>
      <p:sp>
        <p:nvSpPr>
          <p:cNvPr name="Freeform 14" id="14"/>
          <p:cNvSpPr/>
          <p:nvPr/>
        </p:nvSpPr>
        <p:spPr>
          <a:xfrm flipH="false" flipV="false" rot="0">
            <a:off x="5516894" y="2198058"/>
            <a:ext cx="3749026" cy="3924280"/>
          </a:xfrm>
          <a:custGeom>
            <a:avLst/>
            <a:gdLst/>
            <a:ahLst/>
            <a:cxnLst/>
            <a:rect r="r" b="b" t="t" l="l"/>
            <a:pathLst>
              <a:path h="3924280" w="3749026">
                <a:moveTo>
                  <a:pt x="0" y="0"/>
                </a:moveTo>
                <a:lnTo>
                  <a:pt x="3749026" y="0"/>
                </a:lnTo>
                <a:lnTo>
                  <a:pt x="3749026" y="3924280"/>
                </a:lnTo>
                <a:lnTo>
                  <a:pt x="0" y="3924280"/>
                </a:lnTo>
                <a:lnTo>
                  <a:pt x="0" y="0"/>
                </a:lnTo>
                <a:close/>
              </a:path>
            </a:pathLst>
          </a:custGeom>
          <a:blipFill>
            <a:blip r:embed="rId4"/>
            <a:stretch>
              <a:fillRect l="-4674"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39567" y="262423"/>
            <a:ext cx="8595389" cy="542925"/>
          </a:xfrm>
          <a:prstGeom prst="rect">
            <a:avLst/>
          </a:prstGeom>
        </p:spPr>
        <p:txBody>
          <a:bodyPr anchor="t" rtlCol="false" tIns="0" lIns="0" bIns="0" rIns="0">
            <a:spAutoFit/>
          </a:bodyPr>
          <a:lstStyle/>
          <a:p>
            <a:pPr algn="ctr">
              <a:lnSpc>
                <a:spcPts val="4183"/>
              </a:lnSpc>
            </a:pPr>
            <a:r>
              <a:rPr lang="en-US" b="true" sz="3486">
                <a:solidFill>
                  <a:srgbClr val="5E17EB"/>
                </a:solidFill>
                <a:latin typeface="Times New Roman Bold"/>
                <a:ea typeface="Times New Roman Bold"/>
                <a:cs typeface="Times New Roman Bold"/>
                <a:sym typeface="Times New Roman Bold"/>
              </a:rPr>
              <a:t>Intermediate Results and Discussion</a:t>
            </a:r>
          </a:p>
        </p:txBody>
      </p:sp>
      <p:sp>
        <p:nvSpPr>
          <p:cNvPr name="Freeform 3" id="3"/>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9</a:t>
              </a:r>
            </a:p>
          </p:txBody>
        </p:sp>
      </p:grpSp>
      <p:sp>
        <p:nvSpPr>
          <p:cNvPr name="TextBox 13" id="13"/>
          <p:cNvSpPr txBox="true"/>
          <p:nvPr/>
        </p:nvSpPr>
        <p:spPr>
          <a:xfrm rot="0">
            <a:off x="415554" y="1122255"/>
            <a:ext cx="4695927" cy="5657850"/>
          </a:xfrm>
          <a:prstGeom prst="rect">
            <a:avLst/>
          </a:prstGeom>
        </p:spPr>
        <p:txBody>
          <a:bodyPr anchor="t" rtlCol="false" tIns="0" lIns="0" bIns="0" rIns="0">
            <a:spAutoFit/>
          </a:bodyPr>
          <a:lstStyle/>
          <a:p>
            <a:pPr algn="just">
              <a:lnSpc>
                <a:spcPts val="3215"/>
              </a:lnSpc>
              <a:spcBef>
                <a:spcPct val="0"/>
              </a:spcBef>
            </a:pPr>
            <a:r>
              <a:rPr lang="en-US" b="true" sz="2679">
                <a:solidFill>
                  <a:srgbClr val="000000"/>
                </a:solidFill>
                <a:latin typeface="Calibri (MS) Bold"/>
                <a:ea typeface="Calibri (MS) Bold"/>
                <a:cs typeface="Calibri (MS) Bold"/>
                <a:sym typeface="Calibri (MS) Bold"/>
              </a:rPr>
              <a:t>4) ROC Curve and</a:t>
            </a:r>
            <a:r>
              <a:rPr lang="en-US" b="true" sz="2679">
                <a:solidFill>
                  <a:srgbClr val="000000"/>
                </a:solidFill>
                <a:latin typeface="Calibri (MS) Bold"/>
                <a:ea typeface="Calibri (MS) Bold"/>
                <a:cs typeface="Calibri (MS) Bold"/>
                <a:sym typeface="Calibri (MS) Bold"/>
              </a:rPr>
              <a:t> AUC</a:t>
            </a:r>
          </a:p>
          <a:p>
            <a:pPr algn="just">
              <a:lnSpc>
                <a:spcPts val="3215"/>
              </a:lnSpc>
              <a:spcBef>
                <a:spcPct val="0"/>
              </a:spcBef>
            </a:pPr>
          </a:p>
          <a:p>
            <a:pPr algn="just">
              <a:lnSpc>
                <a:spcPts val="3215"/>
              </a:lnSpc>
              <a:spcBef>
                <a:spcPct val="0"/>
              </a:spcBef>
            </a:pPr>
            <a:r>
              <a:rPr lang="en-US" sz="2679">
                <a:solidFill>
                  <a:srgbClr val="000000"/>
                </a:solidFill>
                <a:latin typeface="Calibri (MS)"/>
                <a:ea typeface="Calibri (MS)"/>
                <a:cs typeface="Calibri (MS)"/>
                <a:sym typeface="Calibri (MS)"/>
              </a:rPr>
              <a:t>The ROC curve demonstrates strong separability between seizure and non-seizure classes.</a:t>
            </a:r>
          </a:p>
          <a:p>
            <a:pPr algn="just">
              <a:lnSpc>
                <a:spcPts val="3215"/>
              </a:lnSpc>
              <a:spcBef>
                <a:spcPct val="0"/>
              </a:spcBef>
            </a:pPr>
          </a:p>
          <a:p>
            <a:pPr algn="just">
              <a:lnSpc>
                <a:spcPts val="3215"/>
              </a:lnSpc>
              <a:spcBef>
                <a:spcPct val="0"/>
              </a:spcBef>
            </a:pPr>
            <a:r>
              <a:rPr lang="en-US" sz="2679">
                <a:solidFill>
                  <a:srgbClr val="000000"/>
                </a:solidFill>
                <a:latin typeface="Calibri (MS)"/>
                <a:ea typeface="Calibri (MS)"/>
                <a:cs typeface="Calibri (MS)"/>
                <a:sym typeface="Calibri (MS)"/>
              </a:rPr>
              <a:t>The model achieves an AUC of approximately 0.97, indicating excellent discriminative performance.</a:t>
            </a:r>
          </a:p>
          <a:p>
            <a:pPr algn="just">
              <a:lnSpc>
                <a:spcPts val="3215"/>
              </a:lnSpc>
              <a:spcBef>
                <a:spcPct val="0"/>
              </a:spcBef>
            </a:pPr>
          </a:p>
          <a:p>
            <a:pPr algn="just">
              <a:lnSpc>
                <a:spcPts val="3215"/>
              </a:lnSpc>
              <a:spcBef>
                <a:spcPct val="0"/>
              </a:spcBef>
            </a:pPr>
            <a:r>
              <a:rPr lang="en-US" sz="2679">
                <a:solidFill>
                  <a:srgbClr val="000000"/>
                </a:solidFill>
                <a:latin typeface="Calibri (MS)"/>
                <a:ea typeface="Calibri (MS)"/>
                <a:cs typeface="Calibri (MS)"/>
                <a:sym typeface="Calibri (MS)"/>
              </a:rPr>
              <a:t>A high AUC value confirms the robustness and stability of the proposed CNN–LSTM framework.</a:t>
            </a:r>
          </a:p>
        </p:txBody>
      </p:sp>
      <p:sp>
        <p:nvSpPr>
          <p:cNvPr name="Freeform 14" id="14"/>
          <p:cNvSpPr/>
          <p:nvPr/>
        </p:nvSpPr>
        <p:spPr>
          <a:xfrm flipH="false" flipV="false" rot="0">
            <a:off x="5380466" y="2109622"/>
            <a:ext cx="4202824" cy="4042106"/>
          </a:xfrm>
          <a:custGeom>
            <a:avLst/>
            <a:gdLst/>
            <a:ahLst/>
            <a:cxnLst/>
            <a:rect r="r" b="b" t="t" l="l"/>
            <a:pathLst>
              <a:path h="4042106" w="4202824">
                <a:moveTo>
                  <a:pt x="0" y="0"/>
                </a:moveTo>
                <a:lnTo>
                  <a:pt x="4202824" y="0"/>
                </a:lnTo>
                <a:lnTo>
                  <a:pt x="4202824" y="4042106"/>
                </a:lnTo>
                <a:lnTo>
                  <a:pt x="0" y="4042106"/>
                </a:lnTo>
                <a:lnTo>
                  <a:pt x="0" y="0"/>
                </a:lnTo>
                <a:close/>
              </a:path>
            </a:pathLst>
          </a:custGeom>
          <a:blipFill>
            <a:blip r:embed="rId4"/>
            <a:stretch>
              <a:fillRect l="0" t="-1988" r="0" b="-1988"/>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625598" y="121687"/>
            <a:ext cx="8595389" cy="542925"/>
          </a:xfrm>
          <a:prstGeom prst="rect">
            <a:avLst/>
          </a:prstGeom>
        </p:spPr>
        <p:txBody>
          <a:bodyPr anchor="t" rtlCol="false" tIns="0" lIns="0" bIns="0" rIns="0">
            <a:spAutoFit/>
          </a:bodyPr>
          <a:lstStyle/>
          <a:p>
            <a:pPr algn="ctr">
              <a:lnSpc>
                <a:spcPts val="4183"/>
              </a:lnSpc>
            </a:pPr>
            <a:r>
              <a:rPr lang="en-US" b="true" sz="3486">
                <a:solidFill>
                  <a:srgbClr val="5E17EB"/>
                </a:solidFill>
                <a:latin typeface="Times New Roman Bold"/>
                <a:ea typeface="Times New Roman Bold"/>
                <a:cs typeface="Times New Roman Bold"/>
                <a:sym typeface="Times New Roman Bold"/>
              </a:rPr>
              <a:t>Intermediate Results and Discussion</a:t>
            </a:r>
          </a:p>
        </p:txBody>
      </p:sp>
      <p:sp>
        <p:nvSpPr>
          <p:cNvPr name="Freeform 3" id="3"/>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9</a:t>
              </a:r>
            </a:p>
          </p:txBody>
        </p:sp>
      </p:grpSp>
      <p:sp>
        <p:nvSpPr>
          <p:cNvPr name="TextBox 13" id="13"/>
          <p:cNvSpPr txBox="true"/>
          <p:nvPr/>
        </p:nvSpPr>
        <p:spPr>
          <a:xfrm rot="0">
            <a:off x="405179" y="1200150"/>
            <a:ext cx="8943241" cy="4857750"/>
          </a:xfrm>
          <a:prstGeom prst="rect">
            <a:avLst/>
          </a:prstGeom>
        </p:spPr>
        <p:txBody>
          <a:bodyPr anchor="t" rtlCol="false" tIns="0" lIns="0" bIns="0" rIns="0">
            <a:spAutoFit/>
          </a:bodyPr>
          <a:lstStyle/>
          <a:p>
            <a:pPr algn="just">
              <a:lnSpc>
                <a:spcPts val="3215"/>
              </a:lnSpc>
              <a:spcBef>
                <a:spcPct val="0"/>
              </a:spcBef>
            </a:pPr>
            <a:r>
              <a:rPr lang="en-US" b="true" sz="2679">
                <a:solidFill>
                  <a:srgbClr val="000000"/>
                </a:solidFill>
                <a:latin typeface="Calibri (MS) Bold"/>
                <a:ea typeface="Calibri (MS) Bold"/>
                <a:cs typeface="Calibri (MS) Bold"/>
                <a:sym typeface="Calibri (MS) Bold"/>
              </a:rPr>
              <a:t>5) Overall Interpretation</a:t>
            </a:r>
          </a:p>
          <a:p>
            <a:pPr algn="just">
              <a:lnSpc>
                <a:spcPts val="3215"/>
              </a:lnSpc>
              <a:spcBef>
                <a:spcPct val="0"/>
              </a:spcBef>
            </a:pPr>
          </a:p>
          <a:p>
            <a:pPr algn="just">
              <a:lnSpc>
                <a:spcPts val="3215"/>
              </a:lnSpc>
              <a:spcBef>
                <a:spcPct val="0"/>
              </a:spcBef>
            </a:pPr>
            <a:r>
              <a:rPr lang="en-US" sz="2679">
                <a:solidFill>
                  <a:srgbClr val="000000"/>
                </a:solidFill>
                <a:latin typeface="Calibri (MS)"/>
                <a:ea typeface="Calibri (MS)"/>
                <a:cs typeface="Calibri (MS)"/>
                <a:sym typeface="Calibri (MS)"/>
              </a:rPr>
              <a:t>The intermediate results validate that the proposed deep learning model is:</a:t>
            </a:r>
          </a:p>
          <a:p>
            <a:pPr algn="just" marL="578605" indent="-289302" lvl="1">
              <a:lnSpc>
                <a:spcPts val="3215"/>
              </a:lnSpc>
              <a:buFont typeface="Arial"/>
              <a:buChar char="•"/>
            </a:pPr>
            <a:r>
              <a:rPr lang="en-US" sz="2679">
                <a:solidFill>
                  <a:srgbClr val="000000"/>
                </a:solidFill>
                <a:latin typeface="Calibri (MS)"/>
                <a:ea typeface="Calibri (MS)"/>
                <a:cs typeface="Calibri (MS)"/>
                <a:sym typeface="Calibri (MS)"/>
              </a:rPr>
              <a:t>Highly accurate</a:t>
            </a:r>
          </a:p>
          <a:p>
            <a:pPr algn="just">
              <a:lnSpc>
                <a:spcPts val="3215"/>
              </a:lnSpc>
            </a:pPr>
          </a:p>
          <a:p>
            <a:pPr algn="just" marL="578605" indent="-289302" lvl="1">
              <a:lnSpc>
                <a:spcPts val="3215"/>
              </a:lnSpc>
              <a:buFont typeface="Arial"/>
              <a:buChar char="•"/>
            </a:pPr>
            <a:r>
              <a:rPr lang="en-US" sz="2679">
                <a:solidFill>
                  <a:srgbClr val="000000"/>
                </a:solidFill>
                <a:latin typeface="Calibri (MS)"/>
                <a:ea typeface="Calibri (MS)"/>
                <a:cs typeface="Calibri (MS)"/>
                <a:sym typeface="Calibri (MS)"/>
              </a:rPr>
              <a:t>Reliable under class imbalance</a:t>
            </a:r>
          </a:p>
          <a:p>
            <a:pPr algn="just">
              <a:lnSpc>
                <a:spcPts val="3215"/>
              </a:lnSpc>
            </a:pPr>
          </a:p>
          <a:p>
            <a:pPr algn="just" marL="578605" indent="-289302" lvl="1">
              <a:lnSpc>
                <a:spcPts val="3215"/>
              </a:lnSpc>
              <a:buFont typeface="Arial"/>
              <a:buChar char="•"/>
            </a:pPr>
            <a:r>
              <a:rPr lang="en-US" sz="2679">
                <a:solidFill>
                  <a:srgbClr val="000000"/>
                </a:solidFill>
                <a:latin typeface="Calibri (MS)"/>
                <a:ea typeface="Calibri (MS)"/>
                <a:cs typeface="Calibri (MS)"/>
                <a:sym typeface="Calibri (MS)"/>
              </a:rPr>
              <a:t>Effective in capturing temporal and spatial EEG features</a:t>
            </a:r>
          </a:p>
          <a:p>
            <a:pPr algn="just">
              <a:lnSpc>
                <a:spcPts val="3215"/>
              </a:lnSpc>
              <a:spcBef>
                <a:spcPct val="0"/>
              </a:spcBef>
            </a:pPr>
          </a:p>
          <a:p>
            <a:pPr algn="just">
              <a:lnSpc>
                <a:spcPts val="3215"/>
              </a:lnSpc>
              <a:spcBef>
                <a:spcPct val="0"/>
              </a:spcBef>
            </a:pPr>
            <a:r>
              <a:rPr lang="en-US" sz="2679">
                <a:solidFill>
                  <a:srgbClr val="000000"/>
                </a:solidFill>
                <a:latin typeface="Calibri (MS)"/>
                <a:ea typeface="Calibri (MS)"/>
                <a:cs typeface="Calibri (MS)"/>
                <a:sym typeface="Calibri (MS)"/>
              </a:rPr>
              <a:t>These findings indicate that the model has strong potential for real-time seizure detection and further optimization.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3" id="3"/>
          <p:cNvGrpSpPr/>
          <p:nvPr/>
        </p:nvGrpSpPr>
        <p:grpSpPr>
          <a:xfrm rot="0">
            <a:off x="487680" y="6780105"/>
            <a:ext cx="2275837" cy="389468"/>
            <a:chOff x="0" y="0"/>
            <a:chExt cx="3034449" cy="519290"/>
          </a:xfrm>
        </p:grpSpPr>
        <p:sp>
          <p:nvSpPr>
            <p:cNvPr name="Freeform 4" id="4"/>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5" id="5"/>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a:p>
              <a:pPr algn="l">
                <a:lnSpc>
                  <a:spcPts val="1535"/>
                </a:lnSpc>
              </a:pPr>
            </a:p>
          </p:txBody>
        </p:sp>
      </p:grpSp>
      <p:grpSp>
        <p:nvGrpSpPr>
          <p:cNvPr name="Group 6" id="6"/>
          <p:cNvGrpSpPr/>
          <p:nvPr/>
        </p:nvGrpSpPr>
        <p:grpSpPr>
          <a:xfrm rot="0">
            <a:off x="3332483" y="6780105"/>
            <a:ext cx="3088643" cy="389468"/>
            <a:chOff x="0" y="0"/>
            <a:chExt cx="4118191" cy="519290"/>
          </a:xfrm>
        </p:grpSpPr>
        <p:sp>
          <p:nvSpPr>
            <p:cNvPr name="Freeform 7" id="7"/>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8" id="8"/>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9" id="9"/>
          <p:cNvGrpSpPr/>
          <p:nvPr/>
        </p:nvGrpSpPr>
        <p:grpSpPr>
          <a:xfrm rot="0">
            <a:off x="6990083" y="6780105"/>
            <a:ext cx="2275837" cy="389468"/>
            <a:chOff x="0" y="0"/>
            <a:chExt cx="3034449" cy="519290"/>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1" id="11"/>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10</a:t>
              </a:r>
            </a:p>
          </p:txBody>
        </p:sp>
      </p:grpSp>
      <p:sp>
        <p:nvSpPr>
          <p:cNvPr name="TextBox 12" id="12"/>
          <p:cNvSpPr txBox="true"/>
          <p:nvPr/>
        </p:nvSpPr>
        <p:spPr>
          <a:xfrm rot="0">
            <a:off x="3731349" y="476736"/>
            <a:ext cx="2011442" cy="590550"/>
          </a:xfrm>
          <a:prstGeom prst="rect">
            <a:avLst/>
          </a:prstGeom>
        </p:spPr>
        <p:txBody>
          <a:bodyPr anchor="t" rtlCol="false" tIns="0" lIns="0" bIns="0" rIns="0">
            <a:spAutoFit/>
          </a:bodyPr>
          <a:lstStyle/>
          <a:p>
            <a:pPr algn="ctr">
              <a:lnSpc>
                <a:spcPts val="4175"/>
              </a:lnSpc>
              <a:spcBef>
                <a:spcPct val="0"/>
              </a:spcBef>
            </a:pPr>
            <a:r>
              <a:rPr lang="en-US" b="true" sz="3479">
                <a:solidFill>
                  <a:srgbClr val="5E17EB"/>
                </a:solidFill>
                <a:latin typeface="Calibri (MS) Bold"/>
                <a:ea typeface="Calibri (MS) Bold"/>
                <a:cs typeface="Calibri (MS) Bold"/>
                <a:sym typeface="Calibri (MS) Bold"/>
              </a:rPr>
              <a:t>References</a:t>
            </a:r>
          </a:p>
        </p:txBody>
      </p:sp>
      <p:sp>
        <p:nvSpPr>
          <p:cNvPr name="TextBox 13" id="13"/>
          <p:cNvSpPr txBox="true"/>
          <p:nvPr/>
        </p:nvSpPr>
        <p:spPr>
          <a:xfrm rot="0">
            <a:off x="487680" y="1266220"/>
            <a:ext cx="9107348" cy="5257800"/>
          </a:xfrm>
          <a:prstGeom prst="rect">
            <a:avLst/>
          </a:prstGeom>
        </p:spPr>
        <p:txBody>
          <a:bodyPr anchor="t" rtlCol="false" tIns="0" lIns="0" bIns="0" rIns="0">
            <a:spAutoFit/>
          </a:bodyPr>
          <a:lstStyle/>
          <a:p>
            <a:pPr algn="just">
              <a:lnSpc>
                <a:spcPts val="3215"/>
              </a:lnSpc>
              <a:spcBef>
                <a:spcPct val="0"/>
              </a:spcBef>
            </a:pPr>
            <a:r>
              <a:rPr lang="en-US" sz="2679">
                <a:solidFill>
                  <a:srgbClr val="000000"/>
                </a:solidFill>
                <a:latin typeface="Calibri (MS)"/>
                <a:ea typeface="Calibri (MS)"/>
                <a:cs typeface="Calibri (MS)"/>
                <a:sym typeface="Calibri (MS)"/>
              </a:rPr>
              <a:t>•Shoeb, A. H., &amp; Guttag, J. V. (2010). Application of machine learning to epileptic seizure detection. ICMLA, 975–981.</a:t>
            </a:r>
          </a:p>
          <a:p>
            <a:pPr algn="just">
              <a:lnSpc>
                <a:spcPts val="3215"/>
              </a:lnSpc>
              <a:spcBef>
                <a:spcPct val="0"/>
              </a:spcBef>
            </a:pPr>
          </a:p>
          <a:p>
            <a:pPr algn="just">
              <a:lnSpc>
                <a:spcPts val="3215"/>
              </a:lnSpc>
              <a:spcBef>
                <a:spcPct val="0"/>
              </a:spcBef>
            </a:pPr>
            <a:r>
              <a:rPr lang="en-US" sz="2679">
                <a:solidFill>
                  <a:srgbClr val="000000"/>
                </a:solidFill>
                <a:latin typeface="Calibri (MS)"/>
                <a:ea typeface="Calibri (MS)"/>
                <a:cs typeface="Calibri (MS)"/>
                <a:sym typeface="Calibri (MS)"/>
              </a:rPr>
              <a:t>•Acharya, U. R., et al. (2018). Deep convolutional neural network for the automated detection and diagnosis of seizure using EEG signals. Computers in Biology and Medicine, 100, 270–278.</a:t>
            </a:r>
          </a:p>
          <a:p>
            <a:pPr algn="just">
              <a:lnSpc>
                <a:spcPts val="3215"/>
              </a:lnSpc>
              <a:spcBef>
                <a:spcPct val="0"/>
              </a:spcBef>
            </a:pPr>
          </a:p>
          <a:p>
            <a:pPr algn="just">
              <a:lnSpc>
                <a:spcPts val="3215"/>
              </a:lnSpc>
              <a:spcBef>
                <a:spcPct val="0"/>
              </a:spcBef>
            </a:pPr>
            <a:r>
              <a:rPr lang="en-US" sz="2679">
                <a:solidFill>
                  <a:srgbClr val="000000"/>
                </a:solidFill>
                <a:latin typeface="Calibri (MS)"/>
                <a:ea typeface="Calibri (MS)"/>
                <a:cs typeface="Calibri (MS)"/>
                <a:sym typeface="Calibri (MS)"/>
              </a:rPr>
              <a:t>•Roy, S., Kiral-Kornek, I., &amp; Harrer, S. (2019). ChronoNet: A deep recurrent neural network for seizure detection. ICPR, 3210–3215.</a:t>
            </a:r>
          </a:p>
          <a:p>
            <a:pPr algn="just">
              <a:lnSpc>
                <a:spcPts val="3215"/>
              </a:lnSpc>
              <a:spcBef>
                <a:spcPct val="0"/>
              </a:spcBef>
            </a:pPr>
          </a:p>
          <a:p>
            <a:pPr algn="just">
              <a:lnSpc>
                <a:spcPts val="3215"/>
              </a:lnSpc>
              <a:spcBef>
                <a:spcPct val="0"/>
              </a:spcBef>
            </a:pPr>
            <a:r>
              <a:rPr lang="en-US" sz="2679">
                <a:solidFill>
                  <a:srgbClr val="000000"/>
                </a:solidFill>
                <a:latin typeface="Calibri (MS)"/>
                <a:ea typeface="Calibri (MS)"/>
                <a:cs typeface="Calibri (MS)"/>
                <a:sym typeface="Calibri (MS)"/>
              </a:rPr>
              <a:t>•Goldberger, A. L., et al. (2000). PhysioBank, PhysioToolkit, and PhysioNet: Components of a new research resource for complex physiologic signals. Circulation, 101(23), e215–e220.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3" id="3"/>
          <p:cNvGrpSpPr/>
          <p:nvPr/>
        </p:nvGrpSpPr>
        <p:grpSpPr>
          <a:xfrm rot="0">
            <a:off x="487680" y="6780105"/>
            <a:ext cx="2275837" cy="389468"/>
            <a:chOff x="0" y="0"/>
            <a:chExt cx="3034449" cy="519290"/>
          </a:xfrm>
        </p:grpSpPr>
        <p:sp>
          <p:nvSpPr>
            <p:cNvPr name="Freeform 4" id="4"/>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5" id="5"/>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a:p>
              <a:pPr algn="l">
                <a:lnSpc>
                  <a:spcPts val="1535"/>
                </a:lnSpc>
              </a:pPr>
            </a:p>
          </p:txBody>
        </p:sp>
      </p:grpSp>
      <p:grpSp>
        <p:nvGrpSpPr>
          <p:cNvPr name="Group 6" id="6"/>
          <p:cNvGrpSpPr/>
          <p:nvPr/>
        </p:nvGrpSpPr>
        <p:grpSpPr>
          <a:xfrm rot="0">
            <a:off x="3332483" y="6780105"/>
            <a:ext cx="3088643" cy="389468"/>
            <a:chOff x="0" y="0"/>
            <a:chExt cx="4118191" cy="519290"/>
          </a:xfrm>
        </p:grpSpPr>
        <p:sp>
          <p:nvSpPr>
            <p:cNvPr name="Freeform 7" id="7"/>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8" id="8"/>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9" id="9"/>
          <p:cNvGrpSpPr/>
          <p:nvPr/>
        </p:nvGrpSpPr>
        <p:grpSpPr>
          <a:xfrm rot="0">
            <a:off x="6990083" y="6780105"/>
            <a:ext cx="2275837" cy="389468"/>
            <a:chOff x="0" y="0"/>
            <a:chExt cx="3034449" cy="519290"/>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1" id="11"/>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10</a:t>
              </a:r>
            </a:p>
          </p:txBody>
        </p:sp>
      </p:grpSp>
      <p:sp>
        <p:nvSpPr>
          <p:cNvPr name="TextBox 12" id="12"/>
          <p:cNvSpPr txBox="true"/>
          <p:nvPr/>
        </p:nvSpPr>
        <p:spPr>
          <a:xfrm rot="0">
            <a:off x="3731349" y="476736"/>
            <a:ext cx="2011442" cy="590550"/>
          </a:xfrm>
          <a:prstGeom prst="rect">
            <a:avLst/>
          </a:prstGeom>
        </p:spPr>
        <p:txBody>
          <a:bodyPr anchor="t" rtlCol="false" tIns="0" lIns="0" bIns="0" rIns="0">
            <a:spAutoFit/>
          </a:bodyPr>
          <a:lstStyle/>
          <a:p>
            <a:pPr algn="ctr">
              <a:lnSpc>
                <a:spcPts val="4175"/>
              </a:lnSpc>
              <a:spcBef>
                <a:spcPct val="0"/>
              </a:spcBef>
            </a:pPr>
            <a:r>
              <a:rPr lang="en-US" b="true" sz="3479">
                <a:solidFill>
                  <a:srgbClr val="5E17EB"/>
                </a:solidFill>
                <a:latin typeface="Calibri (MS) Bold"/>
                <a:ea typeface="Calibri (MS) Bold"/>
                <a:cs typeface="Calibri (MS) Bold"/>
                <a:sym typeface="Calibri (MS) Bold"/>
              </a:rPr>
              <a:t>References</a:t>
            </a:r>
          </a:p>
        </p:txBody>
      </p:sp>
      <p:sp>
        <p:nvSpPr>
          <p:cNvPr name="TextBox 13" id="13"/>
          <p:cNvSpPr txBox="true"/>
          <p:nvPr/>
        </p:nvSpPr>
        <p:spPr>
          <a:xfrm rot="0">
            <a:off x="98102" y="1200150"/>
            <a:ext cx="9277935" cy="4857750"/>
          </a:xfrm>
          <a:prstGeom prst="rect">
            <a:avLst/>
          </a:prstGeom>
        </p:spPr>
        <p:txBody>
          <a:bodyPr anchor="t" rtlCol="false" tIns="0" lIns="0" bIns="0" rIns="0">
            <a:spAutoFit/>
          </a:bodyPr>
          <a:lstStyle/>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E. D. U</a:t>
            </a:r>
            <a:r>
              <a:rPr lang="en-US" sz="2684">
                <a:solidFill>
                  <a:srgbClr val="000000"/>
                </a:solidFill>
                <a:latin typeface="Calibri (MS)"/>
                <a:ea typeface="Calibri (MS)"/>
                <a:cs typeface="Calibri (MS)"/>
                <a:sym typeface="Calibri (MS)"/>
              </a:rPr>
              <a:t>beyli, “Analysis of EEG signals by combining eigenvector methods and multiclass support vector machines,” Computers in Biology and Medicine, vol. 38, no. 1, pp. 14–28, 2008.</a:t>
            </a:r>
          </a:p>
          <a:p>
            <a:pPr algn="just">
              <a:lnSpc>
                <a:spcPts val="3221"/>
              </a:lnSpc>
            </a:pPr>
          </a:p>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H. Shoaran, A. S. Chandrakasan, and K. A. Wentzloff, “Energy-efficient machine learning in biomedical applications,” IEEE J. Solid-State Circuits, vol. 57, no. 6, pp. 1635–1650, 2022.</a:t>
            </a:r>
          </a:p>
          <a:p>
            <a:pPr algn="just">
              <a:lnSpc>
                <a:spcPts val="3221"/>
              </a:lnSpc>
            </a:pPr>
          </a:p>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M. T. Islam, T. R. Hossain, and N. A. P. Ahmed, “An interpretable deep learning approach for EEG-based epileptic seizure detection,” IEEE Access, vol. 8, pp. 205288–205300, 2020.</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3" id="3"/>
          <p:cNvGrpSpPr/>
          <p:nvPr/>
        </p:nvGrpSpPr>
        <p:grpSpPr>
          <a:xfrm rot="0">
            <a:off x="487680" y="6780105"/>
            <a:ext cx="2275837" cy="389468"/>
            <a:chOff x="0" y="0"/>
            <a:chExt cx="3034449" cy="519290"/>
          </a:xfrm>
        </p:grpSpPr>
        <p:sp>
          <p:nvSpPr>
            <p:cNvPr name="Freeform 4" id="4"/>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5" id="5"/>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a:p>
              <a:pPr algn="l">
                <a:lnSpc>
                  <a:spcPts val="1535"/>
                </a:lnSpc>
              </a:pPr>
            </a:p>
          </p:txBody>
        </p:sp>
      </p:grpSp>
      <p:grpSp>
        <p:nvGrpSpPr>
          <p:cNvPr name="Group 6" id="6"/>
          <p:cNvGrpSpPr/>
          <p:nvPr/>
        </p:nvGrpSpPr>
        <p:grpSpPr>
          <a:xfrm rot="0">
            <a:off x="3332483" y="6780105"/>
            <a:ext cx="3088643" cy="389468"/>
            <a:chOff x="0" y="0"/>
            <a:chExt cx="4118191" cy="519290"/>
          </a:xfrm>
        </p:grpSpPr>
        <p:sp>
          <p:nvSpPr>
            <p:cNvPr name="Freeform 7" id="7"/>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8" id="8"/>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9" id="9"/>
          <p:cNvGrpSpPr/>
          <p:nvPr/>
        </p:nvGrpSpPr>
        <p:grpSpPr>
          <a:xfrm rot="0">
            <a:off x="6990083" y="6780105"/>
            <a:ext cx="2275837" cy="389468"/>
            <a:chOff x="0" y="0"/>
            <a:chExt cx="3034449" cy="519290"/>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1" id="11"/>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10</a:t>
              </a:r>
            </a:p>
          </p:txBody>
        </p:sp>
      </p:grpSp>
      <p:sp>
        <p:nvSpPr>
          <p:cNvPr name="TextBox 12" id="12"/>
          <p:cNvSpPr txBox="true"/>
          <p:nvPr/>
        </p:nvSpPr>
        <p:spPr>
          <a:xfrm rot="0">
            <a:off x="3731349" y="476736"/>
            <a:ext cx="2011442" cy="590550"/>
          </a:xfrm>
          <a:prstGeom prst="rect">
            <a:avLst/>
          </a:prstGeom>
        </p:spPr>
        <p:txBody>
          <a:bodyPr anchor="t" rtlCol="false" tIns="0" lIns="0" bIns="0" rIns="0">
            <a:spAutoFit/>
          </a:bodyPr>
          <a:lstStyle/>
          <a:p>
            <a:pPr algn="ctr">
              <a:lnSpc>
                <a:spcPts val="4175"/>
              </a:lnSpc>
              <a:spcBef>
                <a:spcPct val="0"/>
              </a:spcBef>
            </a:pPr>
            <a:r>
              <a:rPr lang="en-US" b="true" sz="3479">
                <a:solidFill>
                  <a:srgbClr val="5E17EB"/>
                </a:solidFill>
                <a:latin typeface="Calibri (MS) Bold"/>
                <a:ea typeface="Calibri (MS) Bold"/>
                <a:cs typeface="Calibri (MS) Bold"/>
                <a:sym typeface="Calibri (MS) Bold"/>
              </a:rPr>
              <a:t>References</a:t>
            </a:r>
          </a:p>
        </p:txBody>
      </p:sp>
      <p:sp>
        <p:nvSpPr>
          <p:cNvPr name="TextBox 13" id="13"/>
          <p:cNvSpPr txBox="true"/>
          <p:nvPr/>
        </p:nvSpPr>
        <p:spPr>
          <a:xfrm rot="0">
            <a:off x="264309" y="1135251"/>
            <a:ext cx="9001611" cy="5257800"/>
          </a:xfrm>
          <a:prstGeom prst="rect">
            <a:avLst/>
          </a:prstGeom>
        </p:spPr>
        <p:txBody>
          <a:bodyPr anchor="t" rtlCol="false" tIns="0" lIns="0" bIns="0" rIns="0">
            <a:spAutoFit/>
          </a:bodyPr>
          <a:lstStyle/>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Y. Zhang, S. Zhang</a:t>
            </a:r>
            <a:r>
              <a:rPr lang="en-US" sz="2684">
                <a:solidFill>
                  <a:srgbClr val="000000"/>
                </a:solidFill>
                <a:latin typeface="Calibri (MS)"/>
                <a:ea typeface="Calibri (MS)"/>
                <a:cs typeface="Calibri (MS)"/>
                <a:sym typeface="Calibri (MS)"/>
              </a:rPr>
              <a:t>, and H. Wang, “EEG-based seizure detection using hybrid 1D-CNN and bidirectional LSTM models,” IEEE Access, vol. 9, pp. 107909–107918, 2021.</a:t>
            </a:r>
          </a:p>
          <a:p>
            <a:pPr algn="just">
              <a:lnSpc>
                <a:spcPts val="3221"/>
              </a:lnSpc>
            </a:pPr>
          </a:p>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P. Mirowski, D. Madhavan, Y. Lecun, and R. Kuzniecky, “Classification of patterns of EEG synchronization for seizure prediction,” Clinical Neurophysiology, vol. 120, no. 11, pp. 1927–1940, 2009.</a:t>
            </a:r>
          </a:p>
          <a:p>
            <a:pPr algn="just">
              <a:lnSpc>
                <a:spcPts val="3221"/>
              </a:lnSpc>
            </a:pPr>
          </a:p>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M. Thodoroff, J. Pineau, and A. Lim, “Learning robust features using deep learning for automatic seizure detection,” Proc. IEEE Int. Conf. Machine Learning for Healthcare (MLHC), pp. 178–190, 2016.</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3" id="3"/>
          <p:cNvGrpSpPr/>
          <p:nvPr/>
        </p:nvGrpSpPr>
        <p:grpSpPr>
          <a:xfrm rot="0">
            <a:off x="487680" y="6780105"/>
            <a:ext cx="2275837" cy="389468"/>
            <a:chOff x="0" y="0"/>
            <a:chExt cx="3034449" cy="519290"/>
          </a:xfrm>
        </p:grpSpPr>
        <p:sp>
          <p:nvSpPr>
            <p:cNvPr name="Freeform 4" id="4"/>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5" id="5"/>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a:p>
              <a:pPr algn="l">
                <a:lnSpc>
                  <a:spcPts val="1535"/>
                </a:lnSpc>
              </a:pPr>
            </a:p>
          </p:txBody>
        </p:sp>
      </p:grpSp>
      <p:grpSp>
        <p:nvGrpSpPr>
          <p:cNvPr name="Group 6" id="6"/>
          <p:cNvGrpSpPr/>
          <p:nvPr/>
        </p:nvGrpSpPr>
        <p:grpSpPr>
          <a:xfrm rot="0">
            <a:off x="3332483" y="6780105"/>
            <a:ext cx="3088643" cy="389468"/>
            <a:chOff x="0" y="0"/>
            <a:chExt cx="4118191" cy="519290"/>
          </a:xfrm>
        </p:grpSpPr>
        <p:sp>
          <p:nvSpPr>
            <p:cNvPr name="Freeform 7" id="7"/>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8" id="8"/>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9" id="9"/>
          <p:cNvGrpSpPr/>
          <p:nvPr/>
        </p:nvGrpSpPr>
        <p:grpSpPr>
          <a:xfrm rot="0">
            <a:off x="6990083" y="6780105"/>
            <a:ext cx="2275837" cy="389468"/>
            <a:chOff x="0" y="0"/>
            <a:chExt cx="3034449" cy="519290"/>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1" id="11"/>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10</a:t>
              </a:r>
            </a:p>
          </p:txBody>
        </p:sp>
      </p:grpSp>
      <p:sp>
        <p:nvSpPr>
          <p:cNvPr name="TextBox 12" id="12"/>
          <p:cNvSpPr txBox="true"/>
          <p:nvPr/>
        </p:nvSpPr>
        <p:spPr>
          <a:xfrm rot="0">
            <a:off x="3765889" y="335999"/>
            <a:ext cx="2011442" cy="590550"/>
          </a:xfrm>
          <a:prstGeom prst="rect">
            <a:avLst/>
          </a:prstGeom>
        </p:spPr>
        <p:txBody>
          <a:bodyPr anchor="t" rtlCol="false" tIns="0" lIns="0" bIns="0" rIns="0">
            <a:spAutoFit/>
          </a:bodyPr>
          <a:lstStyle/>
          <a:p>
            <a:pPr algn="ctr">
              <a:lnSpc>
                <a:spcPts val="4175"/>
              </a:lnSpc>
              <a:spcBef>
                <a:spcPct val="0"/>
              </a:spcBef>
            </a:pPr>
            <a:r>
              <a:rPr lang="en-US" b="true" sz="3479">
                <a:solidFill>
                  <a:srgbClr val="5E17EB"/>
                </a:solidFill>
                <a:latin typeface="Calibri (MS) Bold"/>
                <a:ea typeface="Calibri (MS) Bold"/>
                <a:cs typeface="Calibri (MS) Bold"/>
                <a:sym typeface="Calibri (MS) Bold"/>
              </a:rPr>
              <a:t>References</a:t>
            </a:r>
          </a:p>
        </p:txBody>
      </p:sp>
      <p:sp>
        <p:nvSpPr>
          <p:cNvPr name="TextBox 13" id="13"/>
          <p:cNvSpPr txBox="true"/>
          <p:nvPr/>
        </p:nvSpPr>
        <p:spPr>
          <a:xfrm rot="0">
            <a:off x="382490" y="869399"/>
            <a:ext cx="8778240" cy="5839587"/>
          </a:xfrm>
          <a:prstGeom prst="rect">
            <a:avLst/>
          </a:prstGeom>
        </p:spPr>
        <p:txBody>
          <a:bodyPr anchor="t" rtlCol="false" tIns="0" lIns="0" bIns="0" rIns="0">
            <a:spAutoFit/>
          </a:bodyPr>
          <a:lstStyle/>
          <a:p>
            <a:pPr algn="just" marL="558514" indent="-279257" lvl="1">
              <a:lnSpc>
                <a:spcPts val="3104"/>
              </a:lnSpc>
              <a:buFont typeface="Arial"/>
              <a:buChar char="•"/>
            </a:pPr>
            <a:r>
              <a:rPr lang="en-US" sz="2586">
                <a:solidFill>
                  <a:srgbClr val="000000"/>
                </a:solidFill>
                <a:latin typeface="Calibri (MS)"/>
                <a:ea typeface="Calibri (MS)"/>
                <a:cs typeface="Calibri (MS)"/>
                <a:sym typeface="Calibri (MS)"/>
              </a:rPr>
              <a:t>T. Nguyen, T. Le</a:t>
            </a:r>
            <a:r>
              <a:rPr lang="en-US" sz="2586">
                <a:solidFill>
                  <a:srgbClr val="000000"/>
                </a:solidFill>
                <a:latin typeface="Calibri (MS)"/>
                <a:ea typeface="Calibri (MS)"/>
                <a:cs typeface="Calibri (MS)"/>
                <a:sym typeface="Calibri (MS)"/>
              </a:rPr>
              <a:t>, and H. Tran, “EEG-based epileptic seizure detection using deep learning models,” Biomedical Signal Processing and Control, vol. 68, pp. 102–116, 2021.</a:t>
            </a:r>
          </a:p>
          <a:p>
            <a:pPr algn="just">
              <a:lnSpc>
                <a:spcPts val="3104"/>
              </a:lnSpc>
            </a:pPr>
          </a:p>
          <a:p>
            <a:pPr algn="just" marL="558514" indent="-279257" lvl="1">
              <a:lnSpc>
                <a:spcPts val="3104"/>
              </a:lnSpc>
              <a:buFont typeface="Arial"/>
              <a:buChar char="•"/>
            </a:pPr>
            <a:r>
              <a:rPr lang="en-US" sz="2586">
                <a:solidFill>
                  <a:srgbClr val="000000"/>
                </a:solidFill>
                <a:latin typeface="Calibri (MS)"/>
                <a:ea typeface="Calibri (MS)"/>
                <a:cs typeface="Calibri (MS)"/>
                <a:sym typeface="Calibri (MS)"/>
              </a:rPr>
              <a:t>A</a:t>
            </a:r>
            <a:r>
              <a:rPr lang="en-US" sz="2586">
                <a:solidFill>
                  <a:srgbClr val="000000"/>
                </a:solidFill>
                <a:latin typeface="Calibri (MS)"/>
                <a:ea typeface="Calibri (MS)"/>
                <a:cs typeface="Calibri (MS)"/>
                <a:sym typeface="Calibri (MS)"/>
              </a:rPr>
              <a:t>. Antoniades, L. Spyrou, and G. Papadopoulos, “Deep learning for EEG seizure detection: A review,” IEEE Rev. Biomed. Eng., vol. 14, pp. 102–118, 2021.</a:t>
            </a:r>
          </a:p>
          <a:p>
            <a:pPr algn="just">
              <a:lnSpc>
                <a:spcPts val="3104"/>
              </a:lnSpc>
            </a:pPr>
          </a:p>
          <a:p>
            <a:pPr algn="just" marL="558514" indent="-279257" lvl="1">
              <a:lnSpc>
                <a:spcPts val="3104"/>
              </a:lnSpc>
              <a:buFont typeface="Arial"/>
              <a:buChar char="•"/>
            </a:pPr>
            <a:r>
              <a:rPr lang="en-US" sz="2586">
                <a:solidFill>
                  <a:srgbClr val="000000"/>
                </a:solidFill>
                <a:latin typeface="Calibri (MS)"/>
                <a:ea typeface="Calibri (MS)"/>
                <a:cs typeface="Calibri (MS)"/>
                <a:sym typeface="Calibri (MS)"/>
              </a:rPr>
              <a:t>H. Daoud and M. Bayoumi, “Efficient epileptic seizure prediction based on deep learning,” IEEE Trans. Biomed. Circuits Syst., vol. 13, no. 5, pp. 804–813, 2019.</a:t>
            </a:r>
          </a:p>
          <a:p>
            <a:pPr algn="just">
              <a:lnSpc>
                <a:spcPts val="3104"/>
              </a:lnSpc>
            </a:pPr>
          </a:p>
          <a:p>
            <a:pPr algn="just" marL="558514" indent="-279257" lvl="1">
              <a:lnSpc>
                <a:spcPts val="3104"/>
              </a:lnSpc>
              <a:buFont typeface="Arial"/>
              <a:buChar char="•"/>
            </a:pPr>
            <a:r>
              <a:rPr lang="en-US" sz="2586">
                <a:solidFill>
                  <a:srgbClr val="000000"/>
                </a:solidFill>
                <a:latin typeface="Calibri (MS)"/>
                <a:ea typeface="Calibri (MS)"/>
                <a:cs typeface="Calibri (MS)"/>
                <a:sym typeface="Calibri (MS)"/>
              </a:rPr>
              <a:t>J</a:t>
            </a:r>
            <a:r>
              <a:rPr lang="en-US" sz="2586">
                <a:solidFill>
                  <a:srgbClr val="000000"/>
                </a:solidFill>
                <a:latin typeface="Calibri (MS)"/>
                <a:ea typeface="Calibri (MS)"/>
                <a:cs typeface="Calibri (MS)"/>
                <a:sym typeface="Calibri (MS)"/>
              </a:rPr>
              <a:t>. Truong, A. Kuhlmann, and M. B. Iqbal, “Seizure detection with deep learning using EEG data,” Neurocomputing, vol. 338, pp. 19–32, 2019.</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3" id="3"/>
          <p:cNvGrpSpPr/>
          <p:nvPr/>
        </p:nvGrpSpPr>
        <p:grpSpPr>
          <a:xfrm rot="0">
            <a:off x="487680" y="6780105"/>
            <a:ext cx="2275837" cy="389468"/>
            <a:chOff x="0" y="0"/>
            <a:chExt cx="3034449" cy="519290"/>
          </a:xfrm>
        </p:grpSpPr>
        <p:sp>
          <p:nvSpPr>
            <p:cNvPr name="Freeform 4" id="4"/>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5" id="5"/>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a:p>
              <a:pPr algn="l">
                <a:lnSpc>
                  <a:spcPts val="1535"/>
                </a:lnSpc>
              </a:pPr>
            </a:p>
          </p:txBody>
        </p:sp>
      </p:grpSp>
      <p:grpSp>
        <p:nvGrpSpPr>
          <p:cNvPr name="Group 6" id="6"/>
          <p:cNvGrpSpPr/>
          <p:nvPr/>
        </p:nvGrpSpPr>
        <p:grpSpPr>
          <a:xfrm rot="0">
            <a:off x="3332483" y="6780105"/>
            <a:ext cx="3088643" cy="389468"/>
            <a:chOff x="0" y="0"/>
            <a:chExt cx="4118191" cy="519290"/>
          </a:xfrm>
        </p:grpSpPr>
        <p:sp>
          <p:nvSpPr>
            <p:cNvPr name="Freeform 7" id="7"/>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8" id="8"/>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9" id="9"/>
          <p:cNvGrpSpPr/>
          <p:nvPr/>
        </p:nvGrpSpPr>
        <p:grpSpPr>
          <a:xfrm rot="0">
            <a:off x="6990083" y="6780105"/>
            <a:ext cx="2275837" cy="389468"/>
            <a:chOff x="0" y="0"/>
            <a:chExt cx="3034449" cy="519290"/>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1" id="11"/>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10</a:t>
              </a:r>
            </a:p>
          </p:txBody>
        </p:sp>
      </p:grpSp>
      <p:sp>
        <p:nvSpPr>
          <p:cNvPr name="TextBox 12" id="12"/>
          <p:cNvSpPr txBox="true"/>
          <p:nvPr/>
        </p:nvSpPr>
        <p:spPr>
          <a:xfrm rot="0">
            <a:off x="3731349" y="476736"/>
            <a:ext cx="2011442" cy="590550"/>
          </a:xfrm>
          <a:prstGeom prst="rect">
            <a:avLst/>
          </a:prstGeom>
        </p:spPr>
        <p:txBody>
          <a:bodyPr anchor="t" rtlCol="false" tIns="0" lIns="0" bIns="0" rIns="0">
            <a:spAutoFit/>
          </a:bodyPr>
          <a:lstStyle/>
          <a:p>
            <a:pPr algn="ctr">
              <a:lnSpc>
                <a:spcPts val="4175"/>
              </a:lnSpc>
              <a:spcBef>
                <a:spcPct val="0"/>
              </a:spcBef>
            </a:pPr>
            <a:r>
              <a:rPr lang="en-US" b="true" sz="3479">
                <a:solidFill>
                  <a:srgbClr val="5E17EB"/>
                </a:solidFill>
                <a:latin typeface="Calibri (MS) Bold"/>
                <a:ea typeface="Calibri (MS) Bold"/>
                <a:cs typeface="Calibri (MS) Bold"/>
                <a:sym typeface="Calibri (MS) Bold"/>
              </a:rPr>
              <a:t>References</a:t>
            </a:r>
          </a:p>
        </p:txBody>
      </p:sp>
      <p:sp>
        <p:nvSpPr>
          <p:cNvPr name="TextBox 13" id="13"/>
          <p:cNvSpPr txBox="true"/>
          <p:nvPr/>
        </p:nvSpPr>
        <p:spPr>
          <a:xfrm rot="0">
            <a:off x="592444" y="1135251"/>
            <a:ext cx="8673476" cy="5257800"/>
          </a:xfrm>
          <a:prstGeom prst="rect">
            <a:avLst/>
          </a:prstGeom>
        </p:spPr>
        <p:txBody>
          <a:bodyPr anchor="t" rtlCol="false" tIns="0" lIns="0" bIns="0" rIns="0">
            <a:spAutoFit/>
          </a:bodyPr>
          <a:lstStyle/>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S. Hussein, D. Gillies</a:t>
            </a:r>
            <a:r>
              <a:rPr lang="en-US" sz="2684">
                <a:solidFill>
                  <a:srgbClr val="000000"/>
                </a:solidFill>
                <a:latin typeface="Calibri (MS)"/>
                <a:ea typeface="Calibri (MS)"/>
                <a:cs typeface="Calibri (MS)"/>
                <a:sym typeface="Calibri (MS)"/>
              </a:rPr>
              <a:t>, and J. K. Zhang, “EEG-based epileptic seizure detection using hybrid deep learning architectures,” Pattern Recognition Letters, vol. 138, pp. 354–361, 2020.</a:t>
            </a:r>
          </a:p>
          <a:p>
            <a:pPr algn="just">
              <a:lnSpc>
                <a:spcPts val="3221"/>
              </a:lnSpc>
            </a:pPr>
          </a:p>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F</a:t>
            </a:r>
            <a:r>
              <a:rPr lang="en-US" sz="2684">
                <a:solidFill>
                  <a:srgbClr val="000000"/>
                </a:solidFill>
                <a:latin typeface="Calibri (MS)"/>
                <a:ea typeface="Calibri (MS)"/>
                <a:cs typeface="Calibri (MS)"/>
                <a:sym typeface="Calibri (MS)"/>
              </a:rPr>
              <a:t>. Pourpanah, Y. Shi, and B. Wang, “Deep learning for epileptic seizure detection in EEG signals,” Expert Systems with Applications, vol. 164, pp. 113–124, 2021.</a:t>
            </a:r>
          </a:p>
          <a:p>
            <a:pPr algn="just">
              <a:lnSpc>
                <a:spcPts val="3221"/>
              </a:lnSpc>
            </a:pPr>
          </a:p>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J</a:t>
            </a:r>
            <a:r>
              <a:rPr lang="en-US" sz="2684">
                <a:solidFill>
                  <a:srgbClr val="000000"/>
                </a:solidFill>
                <a:latin typeface="Calibri (MS)"/>
                <a:ea typeface="Calibri (MS)"/>
                <a:cs typeface="Calibri (MS)"/>
                <a:sym typeface="Calibri (MS)"/>
              </a:rPr>
              <a:t>. Ahmed, M. A. Islam, and M. R. Amin, “Automated epileptic seizure detection using CNN-based deep learning,” IEEE Sensors Journal, vol. 20, no. 19, pp. 11445–11452, 2020.</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3" id="3"/>
          <p:cNvGrpSpPr/>
          <p:nvPr/>
        </p:nvGrpSpPr>
        <p:grpSpPr>
          <a:xfrm rot="0">
            <a:off x="487680" y="6780105"/>
            <a:ext cx="2275837" cy="389468"/>
            <a:chOff x="0" y="0"/>
            <a:chExt cx="3034449" cy="519290"/>
          </a:xfrm>
        </p:grpSpPr>
        <p:sp>
          <p:nvSpPr>
            <p:cNvPr name="Freeform 4" id="4"/>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5" id="5"/>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a:p>
              <a:pPr algn="l">
                <a:lnSpc>
                  <a:spcPts val="1535"/>
                </a:lnSpc>
              </a:pPr>
            </a:p>
          </p:txBody>
        </p:sp>
      </p:grpSp>
      <p:grpSp>
        <p:nvGrpSpPr>
          <p:cNvPr name="Group 6" id="6"/>
          <p:cNvGrpSpPr/>
          <p:nvPr/>
        </p:nvGrpSpPr>
        <p:grpSpPr>
          <a:xfrm rot="0">
            <a:off x="3332483" y="6780105"/>
            <a:ext cx="3088643" cy="389468"/>
            <a:chOff x="0" y="0"/>
            <a:chExt cx="4118191" cy="519290"/>
          </a:xfrm>
        </p:grpSpPr>
        <p:sp>
          <p:nvSpPr>
            <p:cNvPr name="Freeform 7" id="7"/>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8" id="8"/>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9" id="9"/>
          <p:cNvGrpSpPr/>
          <p:nvPr/>
        </p:nvGrpSpPr>
        <p:grpSpPr>
          <a:xfrm rot="0">
            <a:off x="6990083" y="6780105"/>
            <a:ext cx="2275837" cy="389468"/>
            <a:chOff x="0" y="0"/>
            <a:chExt cx="3034449" cy="519290"/>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1" id="11"/>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10</a:t>
              </a:r>
            </a:p>
          </p:txBody>
        </p:sp>
      </p:grpSp>
      <p:sp>
        <p:nvSpPr>
          <p:cNvPr name="TextBox 12" id="12"/>
          <p:cNvSpPr txBox="true"/>
          <p:nvPr/>
        </p:nvSpPr>
        <p:spPr>
          <a:xfrm rot="0">
            <a:off x="3731349" y="476736"/>
            <a:ext cx="2011442" cy="590550"/>
          </a:xfrm>
          <a:prstGeom prst="rect">
            <a:avLst/>
          </a:prstGeom>
        </p:spPr>
        <p:txBody>
          <a:bodyPr anchor="t" rtlCol="false" tIns="0" lIns="0" bIns="0" rIns="0">
            <a:spAutoFit/>
          </a:bodyPr>
          <a:lstStyle/>
          <a:p>
            <a:pPr algn="ctr">
              <a:lnSpc>
                <a:spcPts val="4175"/>
              </a:lnSpc>
              <a:spcBef>
                <a:spcPct val="0"/>
              </a:spcBef>
            </a:pPr>
            <a:r>
              <a:rPr lang="en-US" b="true" sz="3479">
                <a:solidFill>
                  <a:srgbClr val="5E17EB"/>
                </a:solidFill>
                <a:latin typeface="Calibri (MS) Bold"/>
                <a:ea typeface="Calibri (MS) Bold"/>
                <a:cs typeface="Calibri (MS) Bold"/>
                <a:sym typeface="Calibri (MS) Bold"/>
              </a:rPr>
              <a:t>References</a:t>
            </a:r>
          </a:p>
        </p:txBody>
      </p:sp>
      <p:sp>
        <p:nvSpPr>
          <p:cNvPr name="TextBox 13" id="13"/>
          <p:cNvSpPr txBox="true"/>
          <p:nvPr/>
        </p:nvSpPr>
        <p:spPr>
          <a:xfrm rot="0">
            <a:off x="592444" y="1135251"/>
            <a:ext cx="8673476" cy="4057650"/>
          </a:xfrm>
          <a:prstGeom prst="rect">
            <a:avLst/>
          </a:prstGeom>
        </p:spPr>
        <p:txBody>
          <a:bodyPr anchor="t" rtlCol="false" tIns="0" lIns="0" bIns="0" rIns="0">
            <a:spAutoFit/>
          </a:bodyPr>
          <a:lstStyle/>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Y. Li, W. Li</a:t>
            </a:r>
            <a:r>
              <a:rPr lang="en-US" sz="2684">
                <a:solidFill>
                  <a:srgbClr val="000000"/>
                </a:solidFill>
                <a:latin typeface="Calibri (MS)"/>
                <a:ea typeface="Calibri (MS)"/>
                <a:cs typeface="Calibri (MS)"/>
                <a:sym typeface="Calibri (MS)"/>
              </a:rPr>
              <a:t>, and Z. Zhang, “Multi-channel EEG seizure detection using attention-based deep learning models,” IEEE Access, vol. 10, pp. 45678–45690, 2022.</a:t>
            </a:r>
          </a:p>
          <a:p>
            <a:pPr algn="just">
              <a:lnSpc>
                <a:spcPts val="3221"/>
              </a:lnSpc>
            </a:pPr>
          </a:p>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S</a:t>
            </a:r>
            <a:r>
              <a:rPr lang="en-US" sz="2684">
                <a:solidFill>
                  <a:srgbClr val="000000"/>
                </a:solidFill>
                <a:latin typeface="Calibri (MS)"/>
                <a:ea typeface="Calibri (MS)"/>
                <a:cs typeface="Calibri (MS)"/>
                <a:sym typeface="Calibri (MS)"/>
              </a:rPr>
              <a:t>. Hochreiter and J. Schmidhuber, “Long short-term memory,” Neural Computation, vol. 9, no. 8, pp. 1735–1780, 1997.</a:t>
            </a:r>
          </a:p>
          <a:p>
            <a:pPr algn="just">
              <a:lnSpc>
                <a:spcPts val="3221"/>
              </a:lnSpc>
            </a:pPr>
          </a:p>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Y</a:t>
            </a:r>
            <a:r>
              <a:rPr lang="en-US" sz="2684">
                <a:solidFill>
                  <a:srgbClr val="000000"/>
                </a:solidFill>
                <a:latin typeface="Calibri (MS)"/>
                <a:ea typeface="Calibri (MS)"/>
                <a:cs typeface="Calibri (MS)"/>
                <a:sym typeface="Calibri (MS)"/>
              </a:rPr>
              <a:t>. LeCun, Y. Bengio, and G. Hinton, “Deep learning,” Nature, vol. 521, pp. 436–444, 2015.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106" y="1129476"/>
            <a:ext cx="8595389" cy="1066800"/>
          </a:xfrm>
          <a:prstGeom prst="rect">
            <a:avLst/>
          </a:prstGeom>
        </p:spPr>
        <p:txBody>
          <a:bodyPr anchor="t" rtlCol="false" tIns="0" lIns="0" bIns="0" rIns="0">
            <a:spAutoFit/>
          </a:bodyPr>
          <a:lstStyle/>
          <a:p>
            <a:pPr algn="ctr">
              <a:lnSpc>
                <a:spcPts val="4183"/>
              </a:lnSpc>
            </a:pPr>
            <a:r>
              <a:rPr lang="en-US" b="true" sz="3486">
                <a:solidFill>
                  <a:srgbClr val="5E17EB"/>
                </a:solidFill>
                <a:latin typeface="Times New Roman Bold"/>
                <a:ea typeface="Times New Roman Bold"/>
                <a:cs typeface="Times New Roman Bold"/>
                <a:sym typeface="Times New Roman Bold"/>
              </a:rPr>
              <a:t>Work Completed Till Now </a:t>
            </a:r>
          </a:p>
          <a:p>
            <a:pPr algn="ctr">
              <a:lnSpc>
                <a:spcPts val="4183"/>
              </a:lnSpc>
            </a:pPr>
          </a:p>
        </p:txBody>
      </p:sp>
      <p:sp>
        <p:nvSpPr>
          <p:cNvPr name="Freeform 3" id="3"/>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a:p>
              <a:pPr algn="l">
                <a:lnSpc>
                  <a:spcPts val="1535"/>
                </a:lnSpc>
              </a:pP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11</a:t>
              </a:r>
            </a:p>
          </p:txBody>
        </p:sp>
      </p:grpSp>
      <p:sp>
        <p:nvSpPr>
          <p:cNvPr name="TextBox 13" id="13"/>
          <p:cNvSpPr txBox="true"/>
          <p:nvPr/>
        </p:nvSpPr>
        <p:spPr>
          <a:xfrm rot="0">
            <a:off x="540062" y="2139126"/>
            <a:ext cx="8673476" cy="3257550"/>
          </a:xfrm>
          <a:prstGeom prst="rect">
            <a:avLst/>
          </a:prstGeom>
        </p:spPr>
        <p:txBody>
          <a:bodyPr anchor="t" rtlCol="false" tIns="0" lIns="0" bIns="0" rIns="0">
            <a:spAutoFit/>
          </a:bodyPr>
          <a:lstStyle/>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Data Preparation &amp; Engineering: Dataset Integration, Class Definition, Preprocessing, Segmentation</a:t>
            </a:r>
          </a:p>
          <a:p>
            <a:pPr algn="just">
              <a:lnSpc>
                <a:spcPts val="3221"/>
              </a:lnSpc>
            </a:pPr>
          </a:p>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Model Development: Hybrid Architecture, Feature Extraction, Temporal Memory</a:t>
            </a:r>
          </a:p>
          <a:p>
            <a:pPr algn="just">
              <a:lnSpc>
                <a:spcPts val="3221"/>
              </a:lnSpc>
            </a:pPr>
          </a:p>
          <a:p>
            <a:pPr algn="just" marL="579601" indent="-289800" lvl="1">
              <a:lnSpc>
                <a:spcPts val="3221"/>
              </a:lnSpc>
              <a:buFont typeface="Arial"/>
              <a:buChar char="•"/>
            </a:pPr>
            <a:r>
              <a:rPr lang="en-US" sz="2684">
                <a:solidFill>
                  <a:srgbClr val="000000"/>
                </a:solidFill>
                <a:latin typeface="Calibri (MS)"/>
                <a:ea typeface="Calibri (MS)"/>
                <a:cs typeface="Calibri (MS)"/>
                <a:sym typeface="Calibri (MS)"/>
              </a:rPr>
              <a:t>Optimization &amp; Testing: Imbalance Handling, Evaluation Framework</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101" y="992505"/>
            <a:ext cx="8595389" cy="990600"/>
          </a:xfrm>
          <a:prstGeom prst="rect">
            <a:avLst/>
          </a:prstGeom>
        </p:spPr>
        <p:txBody>
          <a:bodyPr anchor="t" rtlCol="false" tIns="0" lIns="0" bIns="0" rIns="0">
            <a:spAutoFit/>
          </a:bodyPr>
          <a:lstStyle/>
          <a:p>
            <a:pPr algn="ctr">
              <a:lnSpc>
                <a:spcPts val="4183"/>
              </a:lnSpc>
            </a:pPr>
            <a:r>
              <a:rPr lang="en-US" sz="3486">
                <a:solidFill>
                  <a:srgbClr val="000000"/>
                </a:solidFill>
                <a:latin typeface="Times New Roman"/>
                <a:ea typeface="Times New Roman"/>
                <a:cs typeface="Times New Roman"/>
                <a:sym typeface="Times New Roman"/>
              </a:rPr>
              <a:t> </a:t>
            </a:r>
            <a:r>
              <a:rPr lang="en-US" sz="3486" b="true">
                <a:solidFill>
                  <a:srgbClr val="5E17EB"/>
                </a:solidFill>
                <a:latin typeface="Times New Roman Bold"/>
                <a:ea typeface="Times New Roman Bold"/>
                <a:cs typeface="Times New Roman Bold"/>
                <a:sym typeface="Times New Roman Bold"/>
              </a:rPr>
              <a:t>Publication Status:</a:t>
            </a:r>
          </a:p>
          <a:p>
            <a:pPr algn="l">
              <a:lnSpc>
                <a:spcPts val="3583"/>
              </a:lnSpc>
            </a:pPr>
          </a:p>
        </p:txBody>
      </p:sp>
      <p:sp>
        <p:nvSpPr>
          <p:cNvPr name="Freeform 3" id="3"/>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a:p>
              <a:pPr algn="l">
                <a:lnSpc>
                  <a:spcPts val="1535"/>
                </a:lnSpc>
              </a:pP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a:p>
              <a:pPr algn="ctr">
                <a:lnSpc>
                  <a:spcPts val="1535"/>
                </a:lnSpc>
              </a:pP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11</a:t>
              </a:r>
            </a:p>
          </p:txBody>
        </p:sp>
      </p:grpSp>
      <p:sp>
        <p:nvSpPr>
          <p:cNvPr name="TextBox 13" id="13"/>
          <p:cNvSpPr txBox="true"/>
          <p:nvPr/>
        </p:nvSpPr>
        <p:spPr>
          <a:xfrm rot="0">
            <a:off x="579101" y="1925955"/>
            <a:ext cx="8293102" cy="4457700"/>
          </a:xfrm>
          <a:prstGeom prst="rect">
            <a:avLst/>
          </a:prstGeom>
        </p:spPr>
        <p:txBody>
          <a:bodyPr anchor="t" rtlCol="false" tIns="0" lIns="0" bIns="0" rIns="0">
            <a:spAutoFit/>
          </a:bodyPr>
          <a:lstStyle/>
          <a:p>
            <a:pPr algn="just">
              <a:lnSpc>
                <a:spcPts val="3215"/>
              </a:lnSpc>
              <a:spcBef>
                <a:spcPct val="0"/>
              </a:spcBef>
            </a:pPr>
            <a:r>
              <a:rPr lang="en-US" b="true" sz="2679">
                <a:solidFill>
                  <a:srgbClr val="000000"/>
                </a:solidFill>
                <a:latin typeface="Calibri (MS) Bold"/>
                <a:ea typeface="Calibri (MS) Bold"/>
                <a:cs typeface="Calibri (MS) Bold"/>
                <a:sym typeface="Calibri (MS) Bold"/>
              </a:rPr>
              <a:t>•Publication target (Conference/Journal):</a:t>
            </a:r>
          </a:p>
          <a:p>
            <a:pPr algn="just">
              <a:lnSpc>
                <a:spcPts val="3215"/>
              </a:lnSpc>
              <a:spcBef>
                <a:spcPct val="0"/>
              </a:spcBef>
            </a:pPr>
          </a:p>
          <a:p>
            <a:pPr algn="just">
              <a:lnSpc>
                <a:spcPts val="3215"/>
              </a:lnSpc>
              <a:spcBef>
                <a:spcPct val="0"/>
              </a:spcBef>
            </a:pPr>
            <a:r>
              <a:rPr lang="en-US" sz="2679">
                <a:solidFill>
                  <a:srgbClr val="000000"/>
                </a:solidFill>
                <a:latin typeface="Calibri (MS)"/>
                <a:ea typeface="Calibri (MS)"/>
                <a:cs typeface="Calibri (MS)"/>
                <a:sym typeface="Calibri (MS)"/>
              </a:rPr>
              <a:t> International Journal of Health Sciences</a:t>
            </a:r>
          </a:p>
          <a:p>
            <a:pPr algn="just">
              <a:lnSpc>
                <a:spcPts val="3215"/>
              </a:lnSpc>
              <a:spcBef>
                <a:spcPct val="0"/>
              </a:spcBef>
            </a:pPr>
            <a:r>
              <a:rPr lang="en-US" sz="2679">
                <a:solidFill>
                  <a:srgbClr val="000000"/>
                </a:solidFill>
                <a:latin typeface="Calibri (MS)"/>
                <a:ea typeface="Calibri (MS)"/>
                <a:cs typeface="Calibri (MS)"/>
                <a:sym typeface="Calibri (MS)"/>
              </a:rPr>
              <a:t> ISSN : 2550-6978</a:t>
            </a:r>
          </a:p>
          <a:p>
            <a:pPr algn="just">
              <a:lnSpc>
                <a:spcPts val="3215"/>
              </a:lnSpc>
              <a:spcBef>
                <a:spcPct val="0"/>
              </a:spcBef>
            </a:pPr>
            <a:r>
              <a:rPr lang="en-US" sz="2679">
                <a:solidFill>
                  <a:srgbClr val="000000"/>
                </a:solidFill>
                <a:latin typeface="Calibri (MS)"/>
                <a:ea typeface="Calibri (MS)"/>
                <a:cs typeface="Calibri (MS)"/>
                <a:sym typeface="Calibri (MS)"/>
              </a:rPr>
              <a:t> E-ISSN: 2550-696X</a:t>
            </a:r>
          </a:p>
          <a:p>
            <a:pPr algn="just">
              <a:lnSpc>
                <a:spcPts val="3215"/>
              </a:lnSpc>
              <a:spcBef>
                <a:spcPct val="0"/>
              </a:spcBef>
            </a:pPr>
            <a:r>
              <a:rPr lang="en-US" sz="2679">
                <a:solidFill>
                  <a:srgbClr val="000000"/>
                </a:solidFill>
                <a:latin typeface="Calibri (MS)"/>
                <a:ea typeface="Calibri (MS)"/>
                <a:cs typeface="Calibri (MS)"/>
                <a:sym typeface="Calibri (MS)"/>
              </a:rPr>
              <a:t> Indexed In : SCOPUS INDEXED JOURNALS</a:t>
            </a:r>
          </a:p>
          <a:p>
            <a:pPr algn="just">
              <a:lnSpc>
                <a:spcPts val="3215"/>
              </a:lnSpc>
              <a:spcBef>
                <a:spcPct val="0"/>
              </a:spcBef>
            </a:pPr>
            <a:r>
              <a:rPr lang="en-US" sz="2679">
                <a:solidFill>
                  <a:srgbClr val="000000"/>
                </a:solidFill>
                <a:latin typeface="Calibri (MS)"/>
                <a:ea typeface="Calibri (MS)"/>
                <a:cs typeface="Calibri (MS)"/>
                <a:sym typeface="Calibri (MS)"/>
              </a:rPr>
              <a:t> </a:t>
            </a:r>
          </a:p>
          <a:p>
            <a:pPr algn="just">
              <a:lnSpc>
                <a:spcPts val="3215"/>
              </a:lnSpc>
              <a:spcBef>
                <a:spcPct val="0"/>
              </a:spcBef>
            </a:pPr>
            <a:r>
              <a:rPr lang="en-US" sz="2679">
                <a:solidFill>
                  <a:srgbClr val="000000"/>
                </a:solidFill>
                <a:latin typeface="Calibri (MS)"/>
                <a:ea typeface="Calibri (MS)"/>
                <a:cs typeface="Calibri (MS)"/>
                <a:sym typeface="Calibri (MS)"/>
              </a:rPr>
              <a:t> Big Data Mining and Analytics</a:t>
            </a:r>
          </a:p>
          <a:p>
            <a:pPr algn="just">
              <a:lnSpc>
                <a:spcPts val="3215"/>
              </a:lnSpc>
              <a:spcBef>
                <a:spcPct val="0"/>
              </a:spcBef>
            </a:pPr>
            <a:r>
              <a:rPr lang="en-US" sz="2679">
                <a:solidFill>
                  <a:srgbClr val="000000"/>
                </a:solidFill>
                <a:latin typeface="Calibri (MS)"/>
                <a:ea typeface="Calibri (MS)"/>
                <a:cs typeface="Calibri (MS)"/>
                <a:sym typeface="Calibri (MS)"/>
              </a:rPr>
              <a:t> ISSN : 2096-0654</a:t>
            </a:r>
          </a:p>
          <a:p>
            <a:pPr algn="just">
              <a:lnSpc>
                <a:spcPts val="3215"/>
              </a:lnSpc>
              <a:spcBef>
                <a:spcPct val="0"/>
              </a:spcBef>
            </a:pPr>
            <a:r>
              <a:rPr lang="en-US" sz="2679">
                <a:solidFill>
                  <a:srgbClr val="000000"/>
                </a:solidFill>
                <a:latin typeface="Calibri (MS)"/>
                <a:ea typeface="Calibri (MS)"/>
                <a:cs typeface="Calibri (MS)"/>
                <a:sym typeface="Calibri (MS)"/>
              </a:rPr>
              <a:t> E-ISSN: 097-406X</a:t>
            </a:r>
          </a:p>
          <a:p>
            <a:pPr algn="just">
              <a:lnSpc>
                <a:spcPts val="3215"/>
              </a:lnSpc>
              <a:spcBef>
                <a:spcPct val="0"/>
              </a:spcBef>
            </a:pPr>
            <a:r>
              <a:rPr lang="en-US" sz="2679">
                <a:solidFill>
                  <a:srgbClr val="000000"/>
                </a:solidFill>
                <a:latin typeface="Calibri (MS)"/>
                <a:ea typeface="Calibri (MS)"/>
                <a:cs typeface="Calibri (MS)"/>
                <a:sym typeface="Calibri (MS)"/>
              </a:rPr>
              <a:t> Indexed In : SCOPUS INDEXED JOURNALS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106" y="1171575"/>
            <a:ext cx="8595389" cy="2486025"/>
          </a:xfrm>
          <a:prstGeom prst="rect">
            <a:avLst/>
          </a:prstGeom>
        </p:spPr>
        <p:txBody>
          <a:bodyPr anchor="t" rtlCol="false" tIns="0" lIns="0" bIns="0" rIns="0">
            <a:spAutoFit/>
          </a:bodyPr>
          <a:lstStyle/>
          <a:p>
            <a:pPr algn="ctr">
              <a:lnSpc>
                <a:spcPts val="6495"/>
              </a:lnSpc>
            </a:pPr>
          </a:p>
          <a:p>
            <a:pPr algn="ctr">
              <a:lnSpc>
                <a:spcPts val="6495"/>
              </a:lnSpc>
            </a:pPr>
          </a:p>
          <a:p>
            <a:pPr algn="ctr">
              <a:lnSpc>
                <a:spcPts val="6495"/>
              </a:lnSpc>
            </a:pPr>
            <a:r>
              <a:rPr lang="en-US" b="true" sz="5413">
                <a:solidFill>
                  <a:srgbClr val="5E17EB"/>
                </a:solidFill>
                <a:latin typeface="Times New Roman Bold"/>
                <a:ea typeface="Times New Roman Bold"/>
                <a:cs typeface="Times New Roman Bold"/>
                <a:sym typeface="Times New Roman Bold"/>
              </a:rPr>
              <a:t>Thank You</a:t>
            </a:r>
          </a:p>
        </p:txBody>
      </p:sp>
      <p:sp>
        <p:nvSpPr>
          <p:cNvPr name="Freeform 3" id="3"/>
          <p:cNvSpPr/>
          <p:nvPr/>
        </p:nvSpPr>
        <p:spPr>
          <a:xfrm flipH="false" flipV="false" rot="0">
            <a:off x="0" y="0"/>
            <a:ext cx="2386927" cy="805348"/>
          </a:xfrm>
          <a:custGeom>
            <a:avLst/>
            <a:gdLst/>
            <a:ahLst/>
            <a:cxnLst/>
            <a:rect r="r" b="b" t="t" l="l"/>
            <a:pathLst>
              <a:path h="805348" w="2386927">
                <a:moveTo>
                  <a:pt x="0" y="0"/>
                </a:moveTo>
                <a:lnTo>
                  <a:pt x="2386927" y="0"/>
                </a:lnTo>
                <a:lnTo>
                  <a:pt x="2386927" y="805348"/>
                </a:lnTo>
                <a:lnTo>
                  <a:pt x="0" y="805348"/>
                </a:lnTo>
                <a:lnTo>
                  <a:pt x="0" y="0"/>
                </a:lnTo>
                <a:close/>
              </a:path>
            </a:pathLst>
          </a:custGeom>
          <a:blipFill>
            <a:blip r:embed="rId3"/>
            <a:stretch>
              <a:fillRect l="0" t="0" r="0" b="0"/>
            </a:stretch>
          </a:blipFill>
        </p:spPr>
      </p:sp>
      <p:grpSp>
        <p:nvGrpSpPr>
          <p:cNvPr name="Group 4" id="4"/>
          <p:cNvGrpSpPr/>
          <p:nvPr/>
        </p:nvGrpSpPr>
        <p:grpSpPr>
          <a:xfrm rot="0">
            <a:off x="487680" y="6780105"/>
            <a:ext cx="2275837" cy="389468"/>
            <a:chOff x="0" y="0"/>
            <a:chExt cx="3034449" cy="519290"/>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6" id="6"/>
            <p:cNvSpPr txBox="true"/>
            <p:nvPr/>
          </p:nvSpPr>
          <p:spPr>
            <a:xfrm>
              <a:off x="0" y="-28575"/>
              <a:ext cx="3034449" cy="547865"/>
            </a:xfrm>
            <a:prstGeom prst="rect">
              <a:avLst/>
            </a:prstGeom>
          </p:spPr>
          <p:txBody>
            <a:bodyPr anchor="ctr" rtlCol="false" tIns="0" lIns="0" bIns="0" rIns="0"/>
            <a:lstStyle/>
            <a:p>
              <a:pPr algn="l">
                <a:lnSpc>
                  <a:spcPts val="1535"/>
                </a:lnSpc>
              </a:pPr>
              <a:r>
                <a:rPr lang="en-US" sz="1279" b="true">
                  <a:solidFill>
                    <a:srgbClr val="888888"/>
                  </a:solidFill>
                  <a:latin typeface="Calibri (MS) Bold"/>
                  <a:ea typeface="Calibri (MS) Bold"/>
                  <a:cs typeface="Calibri (MS) Bold"/>
                  <a:sym typeface="Calibri (MS) Bold"/>
                </a:rPr>
                <a:t>24-01-2026</a:t>
              </a:r>
            </a:p>
          </p:txBody>
        </p:sp>
      </p:grpSp>
      <p:grpSp>
        <p:nvGrpSpPr>
          <p:cNvPr name="Group 7" id="7"/>
          <p:cNvGrpSpPr/>
          <p:nvPr/>
        </p:nvGrpSpPr>
        <p:grpSpPr>
          <a:xfrm rot="0">
            <a:off x="3332483" y="6780105"/>
            <a:ext cx="3088643" cy="389468"/>
            <a:chOff x="0" y="0"/>
            <a:chExt cx="4118191" cy="519290"/>
          </a:xfrm>
        </p:grpSpPr>
        <p:sp>
          <p:nvSpPr>
            <p:cNvPr name="Freeform 8" id="8"/>
            <p:cNvSpPr/>
            <p:nvPr/>
          </p:nvSpPr>
          <p:spPr>
            <a:xfrm flipH="false" flipV="false" rot="0">
              <a:off x="0" y="0"/>
              <a:ext cx="4118187" cy="519289"/>
            </a:xfrm>
            <a:custGeom>
              <a:avLst/>
              <a:gdLst/>
              <a:ahLst/>
              <a:cxnLst/>
              <a:rect r="r" b="b" t="t" l="l"/>
              <a:pathLst>
                <a:path h="519289" w="4118187">
                  <a:moveTo>
                    <a:pt x="0" y="0"/>
                  </a:moveTo>
                  <a:lnTo>
                    <a:pt x="4118187" y="0"/>
                  </a:lnTo>
                  <a:lnTo>
                    <a:pt x="4118187" y="519289"/>
                  </a:lnTo>
                  <a:lnTo>
                    <a:pt x="0" y="519289"/>
                  </a:lnTo>
                  <a:close/>
                </a:path>
              </a:pathLst>
            </a:custGeom>
            <a:solidFill>
              <a:srgbClr val="000000">
                <a:alpha val="0"/>
              </a:srgbClr>
            </a:solidFill>
            <a:ln w="12700">
              <a:solidFill>
                <a:srgbClr val="000000"/>
              </a:solidFill>
            </a:ln>
          </p:spPr>
        </p:sp>
        <p:sp>
          <p:nvSpPr>
            <p:cNvPr name="TextBox 9" id="9"/>
            <p:cNvSpPr txBox="true"/>
            <p:nvPr/>
          </p:nvSpPr>
          <p:spPr>
            <a:xfrm>
              <a:off x="0" y="-28575"/>
              <a:ext cx="4118191" cy="547865"/>
            </a:xfrm>
            <a:prstGeom prst="rect">
              <a:avLst/>
            </a:prstGeom>
          </p:spPr>
          <p:txBody>
            <a:bodyPr anchor="ctr" rtlCol="false" tIns="0" lIns="0" bIns="0" rIns="0"/>
            <a:lstStyle/>
            <a:p>
              <a:pPr algn="ctr">
                <a:lnSpc>
                  <a:spcPts val="1535"/>
                </a:lnSpc>
              </a:pPr>
              <a:r>
                <a:rPr lang="en-US" sz="1279">
                  <a:solidFill>
                    <a:srgbClr val="888888"/>
                  </a:solidFill>
                  <a:latin typeface="Calibri (MS)"/>
                  <a:ea typeface="Calibri (MS)"/>
                  <a:cs typeface="Calibri (MS)"/>
                  <a:sym typeface="Calibri (MS)"/>
                </a:rPr>
                <a:t>Major Project- Review I</a:t>
              </a:r>
            </a:p>
          </p:txBody>
        </p:sp>
      </p:grpSp>
      <p:grpSp>
        <p:nvGrpSpPr>
          <p:cNvPr name="Group 10" id="10"/>
          <p:cNvGrpSpPr/>
          <p:nvPr/>
        </p:nvGrpSpPr>
        <p:grpSpPr>
          <a:xfrm rot="0">
            <a:off x="6990083" y="6780105"/>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a:ln w="12700">
              <a:solidFill>
                <a:srgbClr val="000000"/>
              </a:solidFill>
            </a:ln>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535"/>
                </a:lnSpc>
              </a:pPr>
              <a:r>
                <a:rPr lang="en-US" sz="1279">
                  <a:solidFill>
                    <a:srgbClr val="888888"/>
                  </a:solidFill>
                  <a:latin typeface="Calibri (MS)"/>
                  <a:ea typeface="Calibri (MS)"/>
                  <a:cs typeface="Calibri (MS)"/>
                  <a:sym typeface="Calibri (MS)"/>
                </a:rPr>
                <a:t>12</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DAG_O2wlLk8</dc:identifier>
  <dcterms:modified xsi:type="dcterms:W3CDTF">2011-08-01T06:04:30Z</dcterms:modified>
  <cp:revision>1</cp:revision>
  <dc:title>PPT Template.pptx</dc:title>
</cp:coreProperties>
</file>